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Poppins" panose="00000500000000000000" pitchFamily="2" charset="0"/>
      <p:regular r:id="rId25"/>
    </p:embeddedFont>
    <p:embeddedFont>
      <p:font typeface="Poppins Bold" panose="020B0604020202020204" charset="0"/>
      <p:regular r:id="rId26"/>
    </p:embeddedFont>
    <p:embeddedFont>
      <p:font typeface="Poppins Medium" panose="00000600000000000000" pitchFamily="2" charset="0"/>
      <p:regular r:id="rId27"/>
    </p:embeddedFont>
    <p:embeddedFont>
      <p:font typeface="Poppins Semi-Bold" panose="020B0604020202020204" charset="0"/>
      <p:regular r:id="rId28"/>
    </p:embeddedFont>
    <p:embeddedFont>
      <p:font typeface="Raleway" pitchFamily="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0194" autoAdjust="0"/>
  </p:normalViewPr>
  <p:slideViewPr>
    <p:cSldViewPr>
      <p:cViewPr varScale="1">
        <p:scale>
          <a:sx n="65" d="100"/>
          <a:sy n="65" d="100"/>
        </p:scale>
        <p:origin x="10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B7B3D-8D97-47AC-AFFE-71DE1B45E8DF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ABDD6-29A5-4142-BBB0-A88D15B5306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70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ABDD6-29A5-4142-BBB0-A88D15B5306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782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101828"/>
                </a:solidFill>
                <a:effectLst/>
                <a:latin typeface="+mj-lt"/>
              </a:rPr>
              <a:t>Neste gráfico, observamos a curva ROC do nosso modelo, que ilustra a relação entre a taxa de verdadeiros positivos e a taxa de falsos positivos em diferentes limiares de decisão. Quanto mais próxima a curva está do canto superior esquerdo, melhor é a capacidade do modelo em distinguir entre as classes. No nosso caso, a área sob a curva (AUC) é de 0,94, indicando um excelente desempenho na separação das classes e reforçando a confiabilidade do modelo para o problema proposto.</a:t>
            </a:r>
            <a:endParaRPr lang="pt-BR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ABDD6-29A5-4142-BBB0-A88D15B5306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422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ABDD6-29A5-4142-BBB0-A88D15B5306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30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84903" y="-571500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4470751" y="5714673"/>
            <a:ext cx="178041" cy="1780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B18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38833">
            <a:off x="11755831" y="-6556804"/>
            <a:ext cx="15557440" cy="13113608"/>
          </a:xfrm>
          <a:custGeom>
            <a:avLst/>
            <a:gdLst/>
            <a:ahLst/>
            <a:cxnLst/>
            <a:rect l="l" t="t" r="r" b="b"/>
            <a:pathLst>
              <a:path w="15557440" h="13113608">
                <a:moveTo>
                  <a:pt x="0" y="0"/>
                </a:moveTo>
                <a:lnTo>
                  <a:pt x="15557440" y="0"/>
                </a:lnTo>
                <a:lnTo>
                  <a:pt x="15557440" y="13113608"/>
                </a:lnTo>
                <a:lnTo>
                  <a:pt x="0" y="131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2000"/>
            </a:blip>
            <a:stretch>
              <a:fillRect l="-3637" t="-28714" r="-363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3245171" y="2990854"/>
            <a:ext cx="11797659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36"/>
              </a:lnSpc>
            </a:pPr>
            <a:r>
              <a:rPr lang="en-US" sz="12613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Projeto</a:t>
            </a:r>
            <a:r>
              <a:rPr lang="en-US" sz="12613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Spotify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48792" y="5526710"/>
            <a:ext cx="8990415" cy="90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Feito para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prever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músicas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favoritas</a:t>
            </a:r>
            <a:endParaRPr lang="en-US" sz="2563" b="1" spc="98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6644541" y="7078187"/>
            <a:ext cx="5738519" cy="769836"/>
            <a:chOff x="0" y="0"/>
            <a:chExt cx="3029391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29391" cy="406400"/>
            </a:xfrm>
            <a:custGeom>
              <a:avLst/>
              <a:gdLst/>
              <a:ahLst/>
              <a:cxnLst/>
              <a:rect l="l" t="t" r="r" b="b"/>
              <a:pathLst>
                <a:path w="3029391" h="406400">
                  <a:moveTo>
                    <a:pt x="2826191" y="0"/>
                  </a:moveTo>
                  <a:cubicBezTo>
                    <a:pt x="2938416" y="0"/>
                    <a:pt x="3029391" y="90976"/>
                    <a:pt x="3029391" y="203200"/>
                  </a:cubicBezTo>
                  <a:cubicBezTo>
                    <a:pt x="3029391" y="315424"/>
                    <a:pt x="2938416" y="406400"/>
                    <a:pt x="28261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826191" y="0"/>
                  </a:lnTo>
                  <a:close/>
                </a:path>
              </a:pathLst>
            </a:custGeom>
            <a:solidFill>
              <a:srgbClr val="2DB180">
                <a:alpha val="14902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29391" cy="463550"/>
            </a:xfrm>
            <a:prstGeom prst="rect">
              <a:avLst/>
            </a:prstGeom>
          </p:spPr>
          <p:txBody>
            <a:bodyPr lIns="31690" tIns="31690" rIns="31690" bIns="3169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6667444" y="7080063"/>
            <a:ext cx="2671119" cy="769836"/>
            <a:chOff x="0" y="0"/>
            <a:chExt cx="1410096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0096" cy="406400"/>
            </a:xfrm>
            <a:custGeom>
              <a:avLst/>
              <a:gdLst/>
              <a:ahLst/>
              <a:cxnLst/>
              <a:rect l="l" t="t" r="r" b="b"/>
              <a:pathLst>
                <a:path w="1410096" h="406400">
                  <a:moveTo>
                    <a:pt x="1206896" y="0"/>
                  </a:moveTo>
                  <a:cubicBezTo>
                    <a:pt x="1319120" y="0"/>
                    <a:pt x="1410096" y="90976"/>
                    <a:pt x="1410096" y="203200"/>
                  </a:cubicBezTo>
                  <a:cubicBezTo>
                    <a:pt x="1410096" y="315424"/>
                    <a:pt x="1319120" y="406400"/>
                    <a:pt x="1206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DB1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410096" cy="425450"/>
            </a:xfrm>
            <a:prstGeom prst="rect">
              <a:avLst/>
            </a:prstGeom>
          </p:spPr>
          <p:txBody>
            <a:bodyPr lIns="31690" tIns="31690" rIns="31690" bIns="31690" rtlCol="0" anchor="ctr"/>
            <a:lstStyle/>
            <a:p>
              <a:pPr marL="0" lvl="0" indent="0" algn="ctr">
                <a:lnSpc>
                  <a:spcPts val="1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51658" y="7195620"/>
            <a:ext cx="1702690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Start Slide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444" y="8326149"/>
            <a:ext cx="495311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Feito </a:t>
            </a:r>
            <a:r>
              <a:rPr lang="en-US" sz="1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Marcela Philippe Meiser Lima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8237" y="-278455"/>
            <a:ext cx="10119794" cy="10596268"/>
          </a:xfrm>
          <a:custGeom>
            <a:avLst/>
            <a:gdLst/>
            <a:ahLst/>
            <a:cxnLst/>
            <a:rect l="l" t="t" r="r" b="b"/>
            <a:pathLst>
              <a:path w="10119794" h="10596268">
                <a:moveTo>
                  <a:pt x="0" y="0"/>
                </a:moveTo>
                <a:lnTo>
                  <a:pt x="10119794" y="0"/>
                </a:lnTo>
                <a:lnTo>
                  <a:pt x="10119794" y="10596268"/>
                </a:lnTo>
                <a:lnTo>
                  <a:pt x="0" y="10596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76161" t="-3873" b="-6628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4470751" y="5714673"/>
            <a:ext cx="178041" cy="1780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B18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3272467">
            <a:off x="12743966" y="3881990"/>
            <a:ext cx="9030668" cy="9605867"/>
          </a:xfrm>
          <a:custGeom>
            <a:avLst/>
            <a:gdLst/>
            <a:ahLst/>
            <a:cxnLst/>
            <a:rect l="l" t="t" r="r" b="b"/>
            <a:pathLst>
              <a:path w="9030668" h="9605867">
                <a:moveTo>
                  <a:pt x="0" y="0"/>
                </a:moveTo>
                <a:lnTo>
                  <a:pt x="9030668" y="0"/>
                </a:lnTo>
                <a:lnTo>
                  <a:pt x="9030668" y="9605868"/>
                </a:lnTo>
                <a:lnTo>
                  <a:pt x="0" y="960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2000"/>
            </a:blip>
            <a:stretch>
              <a:fillRect t="-43119" r="-65832" b="-1455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3245171" y="2990854"/>
            <a:ext cx="11797659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36"/>
              </a:lnSpc>
            </a:pPr>
            <a:r>
              <a:rPr lang="en-US" sz="12613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Projeto Spotify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48792" y="5526710"/>
            <a:ext cx="8990415" cy="90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Feito para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prever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músicas</a:t>
            </a:r>
            <a:r>
              <a:rPr lang="en-US" sz="2563" b="1" spc="98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98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favoritas</a:t>
            </a:r>
            <a:endParaRPr lang="en-US" sz="2563" b="1" spc="98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6644541" y="7078187"/>
            <a:ext cx="5738519" cy="769836"/>
            <a:chOff x="0" y="0"/>
            <a:chExt cx="3029391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29391" cy="406400"/>
            </a:xfrm>
            <a:custGeom>
              <a:avLst/>
              <a:gdLst/>
              <a:ahLst/>
              <a:cxnLst/>
              <a:rect l="l" t="t" r="r" b="b"/>
              <a:pathLst>
                <a:path w="3029391" h="406400">
                  <a:moveTo>
                    <a:pt x="2826191" y="0"/>
                  </a:moveTo>
                  <a:cubicBezTo>
                    <a:pt x="2938416" y="0"/>
                    <a:pt x="3029391" y="90976"/>
                    <a:pt x="3029391" y="203200"/>
                  </a:cubicBezTo>
                  <a:cubicBezTo>
                    <a:pt x="3029391" y="315424"/>
                    <a:pt x="2938416" y="406400"/>
                    <a:pt x="28261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826191" y="0"/>
                  </a:lnTo>
                  <a:close/>
                </a:path>
              </a:pathLst>
            </a:custGeom>
            <a:solidFill>
              <a:srgbClr val="2DB180">
                <a:alpha val="14902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29391" cy="463550"/>
            </a:xfrm>
            <a:prstGeom prst="rect">
              <a:avLst/>
            </a:prstGeom>
          </p:spPr>
          <p:txBody>
            <a:bodyPr lIns="31690" tIns="31690" rIns="31690" bIns="3169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9711942" y="7080063"/>
            <a:ext cx="2671119" cy="769836"/>
            <a:chOff x="0" y="0"/>
            <a:chExt cx="1410096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0096" cy="406400"/>
            </a:xfrm>
            <a:custGeom>
              <a:avLst/>
              <a:gdLst/>
              <a:ahLst/>
              <a:cxnLst/>
              <a:rect l="l" t="t" r="r" b="b"/>
              <a:pathLst>
                <a:path w="1410096" h="406400">
                  <a:moveTo>
                    <a:pt x="1206896" y="0"/>
                  </a:moveTo>
                  <a:cubicBezTo>
                    <a:pt x="1319120" y="0"/>
                    <a:pt x="1410096" y="90976"/>
                    <a:pt x="1410096" y="203200"/>
                  </a:cubicBezTo>
                  <a:cubicBezTo>
                    <a:pt x="1410096" y="315424"/>
                    <a:pt x="1319120" y="406400"/>
                    <a:pt x="1206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DB1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410096" cy="425450"/>
            </a:xfrm>
            <a:prstGeom prst="rect">
              <a:avLst/>
            </a:prstGeom>
          </p:spPr>
          <p:txBody>
            <a:bodyPr lIns="31690" tIns="31690" rIns="31690" bIns="31690" rtlCol="0" anchor="ctr"/>
            <a:lstStyle/>
            <a:p>
              <a:pPr marL="0" lvl="0" indent="0" algn="ctr">
                <a:lnSpc>
                  <a:spcPts val="1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196156" y="7197496"/>
            <a:ext cx="1702690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Start Slide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444" y="8326149"/>
            <a:ext cx="495311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Feito por Marcela Philippe Meiser Lima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726" y="-65560"/>
            <a:ext cx="9549881" cy="10416076"/>
          </a:xfrm>
          <a:custGeom>
            <a:avLst/>
            <a:gdLst/>
            <a:ahLst/>
            <a:cxnLst/>
            <a:rect l="l" t="t" r="r" b="b"/>
            <a:pathLst>
              <a:path w="9549881" h="10416076">
                <a:moveTo>
                  <a:pt x="0" y="0"/>
                </a:moveTo>
                <a:lnTo>
                  <a:pt x="9549880" y="0"/>
                </a:lnTo>
                <a:lnTo>
                  <a:pt x="9549880" y="10416075"/>
                </a:lnTo>
                <a:lnTo>
                  <a:pt x="0" y="10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86674" t="-18607" b="-544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9144000" y="2146300"/>
            <a:ext cx="7211603" cy="585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49"/>
              </a:lnSpc>
              <a:spcBef>
                <a:spcPct val="0"/>
              </a:spcBef>
            </a:pPr>
            <a:r>
              <a:rPr lang="en-US" sz="24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Este p</a:t>
            </a: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rojeto tem como objetivo desenvolver um sistema inteligente capaz de identificar detalhes e características do gosto musical do usuário, a partir de dados estruturados extraídos do Spotify.</a:t>
            </a:r>
          </a:p>
          <a:p>
            <a:pPr marL="0" lvl="0" indent="0" algn="l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Assim como utilizar uma base de dados de treinamento e teste para classificar preferências musicais.</a:t>
            </a:r>
          </a:p>
          <a:p>
            <a:pPr marL="0" lvl="0" indent="0" algn="l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projeto é baseado em um exemplo de uma base de dados de uma pessoa e seus gostos musicais.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2527" y="3258819"/>
            <a:ext cx="5979375" cy="365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3"/>
              </a:lnSpc>
            </a:pPr>
            <a:r>
              <a:rPr lang="en-US" sz="11669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Sobre</a:t>
            </a:r>
            <a:r>
              <a:rPr lang="en-US" sz="11669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</a:t>
            </a:r>
          </a:p>
          <a:p>
            <a:pPr marL="0" lvl="0" indent="0" algn="l">
              <a:lnSpc>
                <a:spcPts val="14003"/>
              </a:lnSpc>
              <a:spcBef>
                <a:spcPct val="0"/>
              </a:spcBef>
            </a:pPr>
            <a:r>
              <a:rPr lang="en-US" sz="11669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Projeto</a:t>
            </a:r>
            <a:endParaRPr lang="en-US" sz="11669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1371645" y="2728118"/>
            <a:ext cx="6929257" cy="7679141"/>
          </a:xfrm>
          <a:custGeom>
            <a:avLst/>
            <a:gdLst/>
            <a:ahLst/>
            <a:cxnLst/>
            <a:rect l="l" t="t" r="r" b="b"/>
            <a:pathLst>
              <a:path w="6929257" h="7679141">
                <a:moveTo>
                  <a:pt x="0" y="0"/>
                </a:moveTo>
                <a:lnTo>
                  <a:pt x="6929258" y="0"/>
                </a:lnTo>
                <a:lnTo>
                  <a:pt x="6929258" y="7679141"/>
                </a:lnTo>
                <a:lnTo>
                  <a:pt x="0" y="767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r="-74694" b="-59428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743429" y="4409060"/>
            <a:ext cx="8760710" cy="462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0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7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organização</a:t>
            </a: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pensada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atingirmos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máximo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organização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tendo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facilitar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leitura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entendimento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da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separação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arquivos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separados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5 pastas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principais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459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Assim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temos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mais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abrangência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objetividade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hora da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procura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alguma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informação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database </a:t>
            </a:r>
            <a:r>
              <a:rPr lang="en-US" sz="2700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7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notebook.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43429" y="1643339"/>
            <a:ext cx="8324873" cy="249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3"/>
              </a:lnSpc>
            </a:pPr>
            <a:r>
              <a:rPr lang="en-US" sz="7961" b="1" dirty="0" err="1">
                <a:solidFill>
                  <a:srgbClr val="FFFFFF"/>
                </a:solidFill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  <a:sym typeface="Poppins Medium"/>
              </a:rPr>
              <a:t>Organização</a:t>
            </a:r>
            <a:r>
              <a:rPr lang="en-US" sz="7961" b="1" dirty="0">
                <a:solidFill>
                  <a:srgbClr val="FFFFFF"/>
                </a:solidFill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  <a:sym typeface="Poppins Medium"/>
              </a:rPr>
              <a:t> do</a:t>
            </a:r>
          </a:p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 dirty="0" err="1">
                <a:solidFill>
                  <a:srgbClr val="FFFFFF"/>
                </a:solidFill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  <a:sym typeface="Poppins Medium"/>
              </a:rPr>
              <a:t>Projeto</a:t>
            </a:r>
            <a:endParaRPr lang="en-US" sz="7961" b="1" dirty="0">
              <a:solidFill>
                <a:srgbClr val="FFFFFF"/>
              </a:solidFill>
              <a:latin typeface="Poppins Medium" panose="00000600000000000000" pitchFamily="2" charset="0"/>
              <a:ea typeface="Poppins Medium"/>
              <a:cs typeface="Poppins Medium" panose="00000600000000000000" pitchFamily="2" charset="0"/>
              <a:sym typeface="Poppins Medium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2283130" y="436357"/>
            <a:ext cx="3016903" cy="2265420"/>
          </a:xfrm>
          <a:custGeom>
            <a:avLst/>
            <a:gdLst/>
            <a:ahLst/>
            <a:cxnLst/>
            <a:rect l="l" t="t" r="r" b="b"/>
            <a:pathLst>
              <a:path w="3016903" h="2265420">
                <a:moveTo>
                  <a:pt x="0" y="0"/>
                </a:moveTo>
                <a:lnTo>
                  <a:pt x="3016903" y="0"/>
                </a:lnTo>
                <a:lnTo>
                  <a:pt x="3016903" y="2265420"/>
                </a:lnTo>
                <a:lnTo>
                  <a:pt x="0" y="2265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 rot="-10800000">
            <a:off x="2283130" y="2822742"/>
            <a:ext cx="3016903" cy="2265420"/>
          </a:xfrm>
          <a:custGeom>
            <a:avLst/>
            <a:gdLst/>
            <a:ahLst/>
            <a:cxnLst/>
            <a:rect l="l" t="t" r="r" b="b"/>
            <a:pathLst>
              <a:path w="3016903" h="2265420">
                <a:moveTo>
                  <a:pt x="0" y="0"/>
                </a:moveTo>
                <a:lnTo>
                  <a:pt x="3016903" y="0"/>
                </a:lnTo>
                <a:lnTo>
                  <a:pt x="3016903" y="2265420"/>
                </a:lnTo>
                <a:lnTo>
                  <a:pt x="0" y="2265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 rot="-10800000">
            <a:off x="2283130" y="5203983"/>
            <a:ext cx="3016903" cy="2265420"/>
          </a:xfrm>
          <a:custGeom>
            <a:avLst/>
            <a:gdLst/>
            <a:ahLst/>
            <a:cxnLst/>
            <a:rect l="l" t="t" r="r" b="b"/>
            <a:pathLst>
              <a:path w="3016903" h="2265420">
                <a:moveTo>
                  <a:pt x="0" y="0"/>
                </a:moveTo>
                <a:lnTo>
                  <a:pt x="3016903" y="0"/>
                </a:lnTo>
                <a:lnTo>
                  <a:pt x="3016903" y="2265419"/>
                </a:lnTo>
                <a:lnTo>
                  <a:pt x="0" y="22654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 rot="-10800000">
            <a:off x="2283130" y="7585223"/>
            <a:ext cx="3016903" cy="2265420"/>
          </a:xfrm>
          <a:custGeom>
            <a:avLst/>
            <a:gdLst/>
            <a:ahLst/>
            <a:cxnLst/>
            <a:rect l="l" t="t" r="r" b="b"/>
            <a:pathLst>
              <a:path w="3016903" h="2265420">
                <a:moveTo>
                  <a:pt x="0" y="0"/>
                </a:moveTo>
                <a:lnTo>
                  <a:pt x="3016903" y="0"/>
                </a:lnTo>
                <a:lnTo>
                  <a:pt x="3016903" y="2265420"/>
                </a:lnTo>
                <a:lnTo>
                  <a:pt x="0" y="2265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2572848" y="940813"/>
            <a:ext cx="2437468" cy="12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análises</a:t>
            </a:r>
            <a:endParaRPr lang="en-US" sz="3144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</a:p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tratamentos</a:t>
            </a:r>
            <a:endParaRPr lang="en-US" sz="3144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12543" y="8508931"/>
            <a:ext cx="1558077" cy="44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gráficos</a:t>
            </a:r>
            <a:endParaRPr lang="en-US" sz="3144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03216" y="3746450"/>
            <a:ext cx="2176731" cy="44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dados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03216" y="5918064"/>
            <a:ext cx="2176731" cy="86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2"/>
              </a:lnSpc>
            </a:pPr>
            <a:r>
              <a:rPr lang="en-US" sz="3144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machine</a:t>
            </a:r>
          </a:p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sz="3144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learning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582660" y="5677584"/>
            <a:ext cx="7208185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Seu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principal é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analisar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estrutura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compreensão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padrões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um conjunto de dados.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partir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dessa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etapa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é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possível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identificar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possíveis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tendências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verificar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outliers,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duplicatas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valores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inconsistentes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entre outros.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39790" y="1643339"/>
            <a:ext cx="6107164" cy="249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Análise</a:t>
            </a:r>
            <a:r>
              <a:rPr lang="en-US" sz="7961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7961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Exploratória</a:t>
            </a:r>
            <a:endParaRPr lang="en-US" sz="7961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82660" y="5067300"/>
            <a:ext cx="1514869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</a:t>
            </a:r>
            <a:endParaRPr lang="en-US" sz="2563" b="1" spc="76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89584" y="374967"/>
            <a:ext cx="2726854" cy="9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4"/>
              </a:lnSpc>
              <a:spcBef>
                <a:spcPct val="0"/>
              </a:spcBef>
            </a:pPr>
            <a:r>
              <a:rPr lang="en-US" sz="6136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Etapas</a:t>
            </a:r>
            <a:endParaRPr lang="en-US" sz="6136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1395936" y="1647111"/>
            <a:ext cx="2813300" cy="769836"/>
            <a:chOff x="0" y="0"/>
            <a:chExt cx="3751067" cy="1026448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0" y="0"/>
              <a:ext cx="3751067" cy="1026448"/>
              <a:chOff x="0" y="0"/>
              <a:chExt cx="1485154" cy="406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851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85154" h="406400">
                    <a:moveTo>
                      <a:pt x="1281954" y="0"/>
                    </a:moveTo>
                    <a:cubicBezTo>
                      <a:pt x="1394179" y="0"/>
                      <a:pt x="1485154" y="90976"/>
                      <a:pt x="1485154" y="203200"/>
                    </a:cubicBezTo>
                    <a:cubicBezTo>
                      <a:pt x="1485154" y="315424"/>
                      <a:pt x="1394179" y="406400"/>
                      <a:pt x="12819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14851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71414" y="186155"/>
              <a:ext cx="256005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Bibliotecas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24908" y="2731272"/>
            <a:ext cx="3598681" cy="769836"/>
            <a:chOff x="0" y="0"/>
            <a:chExt cx="4798241" cy="1026448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9748" y="181978"/>
              <a:ext cx="373874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Leitura</a:t>
              </a:r>
              <a:r>
                <a:rPr lang="en-US" sz="2563" b="1" dirty="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de dados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35409" y="3800993"/>
            <a:ext cx="4687419" cy="820362"/>
            <a:chOff x="0" y="-19253"/>
            <a:chExt cx="6249892" cy="1093816"/>
          </a:xfrm>
        </p:grpSpPr>
        <p:grpSp>
          <p:nvGrpSpPr>
            <p:cNvPr id="19" name="Group 19"/>
            <p:cNvGrpSpPr/>
            <p:nvPr/>
          </p:nvGrpSpPr>
          <p:grpSpPr>
            <a:xfrm rot="-10800000">
              <a:off x="0" y="-19253"/>
              <a:ext cx="6249892" cy="1093816"/>
              <a:chOff x="-3657" y="-19050"/>
              <a:chExt cx="2474511" cy="43307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-3657" y="7623"/>
                <a:ext cx="24708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70854" h="406400">
                    <a:moveTo>
                      <a:pt x="2267654" y="0"/>
                    </a:moveTo>
                    <a:cubicBezTo>
                      <a:pt x="2379878" y="0"/>
                      <a:pt x="2470854" y="90976"/>
                      <a:pt x="2470854" y="203200"/>
                    </a:cubicBezTo>
                    <a:cubicBezTo>
                      <a:pt x="2470854" y="315424"/>
                      <a:pt x="2379878" y="406400"/>
                      <a:pt x="22676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24708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23520" y="176856"/>
              <a:ext cx="5457860" cy="586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Comandos</a:t>
              </a:r>
              <a:r>
                <a:rPr lang="en-US" sz="2563" b="1" dirty="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</a:t>
              </a: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estruturais</a:t>
              </a:r>
              <a:endParaRPr lang="en-US" sz="256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71087" y="4899594"/>
            <a:ext cx="5163847" cy="769836"/>
            <a:chOff x="0" y="0"/>
            <a:chExt cx="6885130" cy="1026448"/>
          </a:xfrm>
        </p:grpSpPr>
        <p:grpSp>
          <p:nvGrpSpPr>
            <p:cNvPr id="24" name="Group 24"/>
            <p:cNvGrpSpPr/>
            <p:nvPr/>
          </p:nvGrpSpPr>
          <p:grpSpPr>
            <a:xfrm rot="-10800000">
              <a:off x="0" y="0"/>
              <a:ext cx="6885130" cy="1026448"/>
              <a:chOff x="0" y="0"/>
              <a:chExt cx="2726019" cy="406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72601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726019" h="406400">
                    <a:moveTo>
                      <a:pt x="2522819" y="0"/>
                    </a:moveTo>
                    <a:cubicBezTo>
                      <a:pt x="2635044" y="0"/>
                      <a:pt x="2726019" y="90976"/>
                      <a:pt x="2726019" y="203200"/>
                    </a:cubicBezTo>
                    <a:cubicBezTo>
                      <a:pt x="2726019" y="315424"/>
                      <a:pt x="2635044" y="406400"/>
                      <a:pt x="252281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2726019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41288" y="181978"/>
              <a:ext cx="5925855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Tratamento</a:t>
              </a:r>
              <a:r>
                <a:rPr lang="en-US" sz="2563" b="1" dirty="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de </a:t>
              </a: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Duplicatas</a:t>
              </a:r>
              <a:endParaRPr lang="en-US" sz="256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530955" y="5983755"/>
            <a:ext cx="4651082" cy="769836"/>
            <a:chOff x="0" y="0"/>
            <a:chExt cx="6201443" cy="1026448"/>
          </a:xfrm>
        </p:grpSpPr>
        <p:grpSp>
          <p:nvGrpSpPr>
            <p:cNvPr id="29" name="Group 29"/>
            <p:cNvGrpSpPr/>
            <p:nvPr/>
          </p:nvGrpSpPr>
          <p:grpSpPr>
            <a:xfrm rot="-10800000">
              <a:off x="0" y="0"/>
              <a:ext cx="6201443" cy="1026448"/>
              <a:chOff x="0" y="0"/>
              <a:chExt cx="2455328" cy="406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45532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55328" h="406400">
                    <a:moveTo>
                      <a:pt x="2252128" y="0"/>
                    </a:moveTo>
                    <a:cubicBezTo>
                      <a:pt x="2364352" y="0"/>
                      <a:pt x="2455328" y="90976"/>
                      <a:pt x="2455328" y="203200"/>
                    </a:cubicBezTo>
                    <a:cubicBezTo>
                      <a:pt x="2455328" y="315424"/>
                      <a:pt x="2364352" y="406400"/>
                      <a:pt x="225212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2455328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19442" y="190500"/>
              <a:ext cx="5240337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Observação de Outliers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603738" y="7067916"/>
            <a:ext cx="2421846" cy="769836"/>
            <a:chOff x="0" y="0"/>
            <a:chExt cx="3229128" cy="1026448"/>
          </a:xfrm>
        </p:grpSpPr>
        <p:grpSp>
          <p:nvGrpSpPr>
            <p:cNvPr id="34" name="Group 34"/>
            <p:cNvGrpSpPr/>
            <p:nvPr/>
          </p:nvGrpSpPr>
          <p:grpSpPr>
            <a:xfrm rot="-10800000">
              <a:off x="0" y="0"/>
              <a:ext cx="3229128" cy="1026448"/>
              <a:chOff x="0" y="0"/>
              <a:chExt cx="1278504" cy="406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27850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78504" h="406400">
                    <a:moveTo>
                      <a:pt x="1075304" y="0"/>
                    </a:moveTo>
                    <a:cubicBezTo>
                      <a:pt x="1187528" y="0"/>
                      <a:pt x="1278504" y="90976"/>
                      <a:pt x="1278504" y="203200"/>
                    </a:cubicBezTo>
                    <a:cubicBezTo>
                      <a:pt x="1278504" y="315424"/>
                      <a:pt x="1187528" y="406400"/>
                      <a:pt x="10753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127850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00295" y="181978"/>
              <a:ext cx="245410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Descrição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24908" y="8152076"/>
            <a:ext cx="3598681" cy="769836"/>
            <a:chOff x="0" y="0"/>
            <a:chExt cx="4798241" cy="1026448"/>
          </a:xfrm>
        </p:grpSpPr>
        <p:grpSp>
          <p:nvGrpSpPr>
            <p:cNvPr id="39" name="Group 39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94704" y="181978"/>
              <a:ext cx="3808832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Gráfico HeatMap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053670" y="9185872"/>
            <a:ext cx="3598681" cy="769836"/>
            <a:chOff x="0" y="0"/>
            <a:chExt cx="4798241" cy="1026448"/>
          </a:xfrm>
        </p:grpSpPr>
        <p:grpSp>
          <p:nvGrpSpPr>
            <p:cNvPr id="44" name="Group 44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494704" y="181978"/>
              <a:ext cx="3808832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Exportação final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655718" y="1719539"/>
            <a:ext cx="5481198" cy="3747657"/>
          </a:xfrm>
          <a:custGeom>
            <a:avLst/>
            <a:gdLst/>
            <a:ahLst/>
            <a:cxnLst/>
            <a:rect l="l" t="t" r="r" b="b"/>
            <a:pathLst>
              <a:path w="5481198" h="3747657">
                <a:moveTo>
                  <a:pt x="0" y="0"/>
                </a:moveTo>
                <a:lnTo>
                  <a:pt x="5481198" y="0"/>
                </a:lnTo>
                <a:lnTo>
                  <a:pt x="5481198" y="3747656"/>
                </a:lnTo>
                <a:lnTo>
                  <a:pt x="0" y="3747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6498306" y="1719539"/>
            <a:ext cx="5130482" cy="3747657"/>
          </a:xfrm>
          <a:custGeom>
            <a:avLst/>
            <a:gdLst/>
            <a:ahLst/>
            <a:cxnLst/>
            <a:rect l="l" t="t" r="r" b="b"/>
            <a:pathLst>
              <a:path w="5130482" h="3747657">
                <a:moveTo>
                  <a:pt x="0" y="0"/>
                </a:moveTo>
                <a:lnTo>
                  <a:pt x="5130481" y="0"/>
                </a:lnTo>
                <a:lnTo>
                  <a:pt x="5130481" y="3747656"/>
                </a:lnTo>
                <a:lnTo>
                  <a:pt x="0" y="374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1990737" y="1719539"/>
            <a:ext cx="5130482" cy="3747657"/>
          </a:xfrm>
          <a:custGeom>
            <a:avLst/>
            <a:gdLst/>
            <a:ahLst/>
            <a:cxnLst/>
            <a:rect l="l" t="t" r="r" b="b"/>
            <a:pathLst>
              <a:path w="5130482" h="3747657">
                <a:moveTo>
                  <a:pt x="0" y="0"/>
                </a:moveTo>
                <a:lnTo>
                  <a:pt x="5130482" y="0"/>
                </a:lnTo>
                <a:lnTo>
                  <a:pt x="5130482" y="3747656"/>
                </a:lnTo>
                <a:lnTo>
                  <a:pt x="0" y="3747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3551635" y="5771995"/>
            <a:ext cx="5170564" cy="3747657"/>
          </a:xfrm>
          <a:custGeom>
            <a:avLst/>
            <a:gdLst/>
            <a:ahLst/>
            <a:cxnLst/>
            <a:rect l="l" t="t" r="r" b="b"/>
            <a:pathLst>
              <a:path w="5170564" h="3747657">
                <a:moveTo>
                  <a:pt x="0" y="0"/>
                </a:moveTo>
                <a:lnTo>
                  <a:pt x="5170563" y="0"/>
                </a:lnTo>
                <a:lnTo>
                  <a:pt x="5170563" y="3747657"/>
                </a:lnTo>
                <a:lnTo>
                  <a:pt x="0" y="3747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9385415" y="5771995"/>
            <a:ext cx="5170564" cy="3747657"/>
          </a:xfrm>
          <a:custGeom>
            <a:avLst/>
            <a:gdLst/>
            <a:ahLst/>
            <a:cxnLst/>
            <a:rect l="l" t="t" r="r" b="b"/>
            <a:pathLst>
              <a:path w="5170564" h="3747657">
                <a:moveTo>
                  <a:pt x="0" y="0"/>
                </a:moveTo>
                <a:lnTo>
                  <a:pt x="5170563" y="0"/>
                </a:lnTo>
                <a:lnTo>
                  <a:pt x="5170563" y="3747657"/>
                </a:lnTo>
                <a:lnTo>
                  <a:pt x="0" y="374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6850707" y="644903"/>
            <a:ext cx="4651082" cy="769836"/>
            <a:chOff x="0" y="0"/>
            <a:chExt cx="6201443" cy="1026448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0"/>
              <a:ext cx="6201443" cy="1026448"/>
              <a:chOff x="0" y="0"/>
              <a:chExt cx="2455328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5532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55328" h="406400">
                    <a:moveTo>
                      <a:pt x="2252128" y="0"/>
                    </a:moveTo>
                    <a:cubicBezTo>
                      <a:pt x="2364352" y="0"/>
                      <a:pt x="2455328" y="90976"/>
                      <a:pt x="2455328" y="203200"/>
                    </a:cubicBezTo>
                    <a:cubicBezTo>
                      <a:pt x="2455328" y="315424"/>
                      <a:pt x="2364352" y="406400"/>
                      <a:pt x="225212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2455328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19442" y="190500"/>
              <a:ext cx="5240337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Observação de Outliers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7344660" y="754594"/>
            <a:ext cx="3598681" cy="769836"/>
            <a:chOff x="0" y="0"/>
            <a:chExt cx="4798241" cy="102644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494704" y="181978"/>
              <a:ext cx="3808832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Gráfico HeatMap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981995" y="1884059"/>
            <a:ext cx="10324009" cy="7743007"/>
          </a:xfrm>
          <a:custGeom>
            <a:avLst/>
            <a:gdLst/>
            <a:ahLst/>
            <a:cxnLst/>
            <a:rect l="l" t="t" r="r" b="b"/>
            <a:pathLst>
              <a:path w="10324009" h="7743007">
                <a:moveTo>
                  <a:pt x="0" y="0"/>
                </a:moveTo>
                <a:lnTo>
                  <a:pt x="10324010" y="0"/>
                </a:lnTo>
                <a:lnTo>
                  <a:pt x="10324010" y="7743007"/>
                </a:lnTo>
                <a:lnTo>
                  <a:pt x="0" y="7743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726" y="-65560"/>
            <a:ext cx="9549881" cy="10416076"/>
          </a:xfrm>
          <a:custGeom>
            <a:avLst/>
            <a:gdLst/>
            <a:ahLst/>
            <a:cxnLst/>
            <a:rect l="l" t="t" r="r" b="b"/>
            <a:pathLst>
              <a:path w="9549881" h="10416076">
                <a:moveTo>
                  <a:pt x="0" y="0"/>
                </a:moveTo>
                <a:lnTo>
                  <a:pt x="9549880" y="0"/>
                </a:lnTo>
                <a:lnTo>
                  <a:pt x="9549880" y="10416075"/>
                </a:lnTo>
                <a:lnTo>
                  <a:pt x="0" y="10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86674" t="-18607" b="-544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371645" y="2728118"/>
            <a:ext cx="6929257" cy="7679141"/>
          </a:xfrm>
          <a:custGeom>
            <a:avLst/>
            <a:gdLst/>
            <a:ahLst/>
            <a:cxnLst/>
            <a:rect l="l" t="t" r="r" b="b"/>
            <a:pathLst>
              <a:path w="6929257" h="7679141">
                <a:moveTo>
                  <a:pt x="0" y="0"/>
                </a:moveTo>
                <a:lnTo>
                  <a:pt x="6929258" y="0"/>
                </a:lnTo>
                <a:lnTo>
                  <a:pt x="6929258" y="7679141"/>
                </a:lnTo>
                <a:lnTo>
                  <a:pt x="0" y="767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r="-74694" b="-594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582660" y="2584967"/>
            <a:ext cx="6107164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Tratamento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2660" y="4683708"/>
            <a:ext cx="1514869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2660" y="5286486"/>
            <a:ext cx="7208185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Seu objetivo principal é analisar a estrutura para realizar tratamentos, com o intuito de facilitar a leitura e compreensão dos dados para o algoritmo.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89584" y="971550"/>
            <a:ext cx="2726854" cy="9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4"/>
              </a:lnSpc>
              <a:spcBef>
                <a:spcPct val="0"/>
              </a:spcBef>
            </a:pPr>
            <a:r>
              <a:rPr lang="en-US" sz="61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Etapas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24698" y="2276249"/>
            <a:ext cx="2813300" cy="769836"/>
            <a:chOff x="0" y="0"/>
            <a:chExt cx="3751067" cy="1026448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0" y="0"/>
              <a:ext cx="3751067" cy="1026448"/>
              <a:chOff x="0" y="0"/>
              <a:chExt cx="1485154" cy="406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851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85154" h="406400">
                    <a:moveTo>
                      <a:pt x="1281954" y="0"/>
                    </a:moveTo>
                    <a:cubicBezTo>
                      <a:pt x="1394179" y="0"/>
                      <a:pt x="1485154" y="90976"/>
                      <a:pt x="1485154" y="203200"/>
                    </a:cubicBezTo>
                    <a:cubicBezTo>
                      <a:pt x="1485154" y="315424"/>
                      <a:pt x="1394179" y="406400"/>
                      <a:pt x="12819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14851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71414" y="186155"/>
              <a:ext cx="256005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Bibliotecas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53670" y="3360410"/>
            <a:ext cx="3598681" cy="769836"/>
            <a:chOff x="0" y="0"/>
            <a:chExt cx="4798241" cy="1026448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9748" y="181978"/>
              <a:ext cx="373874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Leitura de dados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54681" y="4444571"/>
            <a:ext cx="3996659" cy="769836"/>
            <a:chOff x="0" y="0"/>
            <a:chExt cx="5328879" cy="1026448"/>
          </a:xfrm>
        </p:grpSpPr>
        <p:grpSp>
          <p:nvGrpSpPr>
            <p:cNvPr id="19" name="Group 19"/>
            <p:cNvGrpSpPr/>
            <p:nvPr/>
          </p:nvGrpSpPr>
          <p:grpSpPr>
            <a:xfrm rot="-10800000">
              <a:off x="0" y="0"/>
              <a:ext cx="5328879" cy="1026448"/>
              <a:chOff x="0" y="0"/>
              <a:chExt cx="2109855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109855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109855" h="406400">
                    <a:moveTo>
                      <a:pt x="1906655" y="0"/>
                    </a:moveTo>
                    <a:cubicBezTo>
                      <a:pt x="2018879" y="0"/>
                      <a:pt x="2109855" y="90976"/>
                      <a:pt x="2109855" y="203200"/>
                    </a:cubicBezTo>
                    <a:cubicBezTo>
                      <a:pt x="2109855" y="315424"/>
                      <a:pt x="2018879" y="406400"/>
                      <a:pt x="190665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2109855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250480" y="181978"/>
              <a:ext cx="4821317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Comandos de edição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62865" y="5528732"/>
            <a:ext cx="4180291" cy="769836"/>
            <a:chOff x="0" y="0"/>
            <a:chExt cx="5573722" cy="1026448"/>
          </a:xfrm>
        </p:grpSpPr>
        <p:grpSp>
          <p:nvGrpSpPr>
            <p:cNvPr id="24" name="Group 24"/>
            <p:cNvGrpSpPr/>
            <p:nvPr/>
          </p:nvGrpSpPr>
          <p:grpSpPr>
            <a:xfrm rot="-10800000">
              <a:off x="0" y="0"/>
              <a:ext cx="5573722" cy="1026448"/>
              <a:chOff x="0" y="0"/>
              <a:chExt cx="2206795" cy="406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206795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206795" h="406400">
                    <a:moveTo>
                      <a:pt x="2003595" y="0"/>
                    </a:moveTo>
                    <a:cubicBezTo>
                      <a:pt x="2115819" y="0"/>
                      <a:pt x="2206795" y="90976"/>
                      <a:pt x="2206795" y="203200"/>
                    </a:cubicBezTo>
                    <a:cubicBezTo>
                      <a:pt x="2206795" y="315424"/>
                      <a:pt x="2115819" y="406400"/>
                      <a:pt x="200359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2206795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7236" y="181978"/>
              <a:ext cx="4797159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Geração de dummies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03443" y="6612893"/>
            <a:ext cx="5699134" cy="769836"/>
            <a:chOff x="0" y="0"/>
            <a:chExt cx="7598846" cy="1026448"/>
          </a:xfrm>
        </p:grpSpPr>
        <p:grpSp>
          <p:nvGrpSpPr>
            <p:cNvPr id="29" name="Group 29"/>
            <p:cNvGrpSpPr/>
            <p:nvPr/>
          </p:nvGrpSpPr>
          <p:grpSpPr>
            <a:xfrm rot="-10800000">
              <a:off x="0" y="0"/>
              <a:ext cx="7598846" cy="1026448"/>
              <a:chOff x="0" y="0"/>
              <a:chExt cx="3008600" cy="406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0086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008600" h="406400">
                    <a:moveTo>
                      <a:pt x="2805400" y="0"/>
                    </a:moveTo>
                    <a:cubicBezTo>
                      <a:pt x="2917624" y="0"/>
                      <a:pt x="3008600" y="90976"/>
                      <a:pt x="3008600" y="203200"/>
                    </a:cubicBezTo>
                    <a:cubicBezTo>
                      <a:pt x="3008600" y="315424"/>
                      <a:pt x="2917624" y="406400"/>
                      <a:pt x="28054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300860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36490" y="190500"/>
              <a:ext cx="6421169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Drop de colunas irrelevantes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095585" y="7697054"/>
            <a:ext cx="3514851" cy="769836"/>
            <a:chOff x="0" y="0"/>
            <a:chExt cx="4686468" cy="1026448"/>
          </a:xfrm>
        </p:grpSpPr>
        <p:grpSp>
          <p:nvGrpSpPr>
            <p:cNvPr id="34" name="Group 34"/>
            <p:cNvGrpSpPr/>
            <p:nvPr/>
          </p:nvGrpSpPr>
          <p:grpSpPr>
            <a:xfrm rot="-10800000">
              <a:off x="0" y="0"/>
              <a:ext cx="4686468" cy="1026448"/>
              <a:chOff x="0" y="0"/>
              <a:chExt cx="1855506" cy="406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85550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55506" h="406400">
                    <a:moveTo>
                      <a:pt x="1652306" y="0"/>
                    </a:moveTo>
                    <a:cubicBezTo>
                      <a:pt x="1764530" y="0"/>
                      <a:pt x="1855506" y="90976"/>
                      <a:pt x="1855506" y="203200"/>
                    </a:cubicBezTo>
                    <a:cubicBezTo>
                      <a:pt x="1855506" y="315424"/>
                      <a:pt x="1764530" y="406400"/>
                      <a:pt x="165230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1855506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80953" y="181978"/>
              <a:ext cx="3561668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Escalonamento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34036" y="8873382"/>
            <a:ext cx="6194624" cy="769836"/>
            <a:chOff x="0" y="0"/>
            <a:chExt cx="8259499" cy="1026448"/>
          </a:xfrm>
        </p:grpSpPr>
        <p:grpSp>
          <p:nvGrpSpPr>
            <p:cNvPr id="39" name="Group 39"/>
            <p:cNvGrpSpPr/>
            <p:nvPr/>
          </p:nvGrpSpPr>
          <p:grpSpPr>
            <a:xfrm rot="-10800000">
              <a:off x="0" y="0"/>
              <a:ext cx="8259499" cy="1026448"/>
              <a:chOff x="0" y="0"/>
              <a:chExt cx="3270171" cy="406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27017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70171" h="406400">
                    <a:moveTo>
                      <a:pt x="3066971" y="0"/>
                    </a:moveTo>
                    <a:cubicBezTo>
                      <a:pt x="3179195" y="0"/>
                      <a:pt x="3270171" y="90976"/>
                      <a:pt x="3270171" y="203200"/>
                    </a:cubicBezTo>
                    <a:cubicBezTo>
                      <a:pt x="3270171" y="315424"/>
                      <a:pt x="3179195" y="406400"/>
                      <a:pt x="306697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3270171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07862" y="181978"/>
              <a:ext cx="7443775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Concatenação e Exportação final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726" y="-65560"/>
            <a:ext cx="9549881" cy="10416076"/>
          </a:xfrm>
          <a:custGeom>
            <a:avLst/>
            <a:gdLst/>
            <a:ahLst/>
            <a:cxnLst/>
            <a:rect l="l" t="t" r="r" b="b"/>
            <a:pathLst>
              <a:path w="9549881" h="10416076">
                <a:moveTo>
                  <a:pt x="0" y="0"/>
                </a:moveTo>
                <a:lnTo>
                  <a:pt x="9549880" y="0"/>
                </a:lnTo>
                <a:lnTo>
                  <a:pt x="9549880" y="10416075"/>
                </a:lnTo>
                <a:lnTo>
                  <a:pt x="0" y="10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86674" t="-18607" b="-544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371645" y="2728118"/>
            <a:ext cx="6929257" cy="7679141"/>
          </a:xfrm>
          <a:custGeom>
            <a:avLst/>
            <a:gdLst/>
            <a:ahLst/>
            <a:cxnLst/>
            <a:rect l="l" t="t" r="r" b="b"/>
            <a:pathLst>
              <a:path w="6929257" h="7679141">
                <a:moveTo>
                  <a:pt x="0" y="0"/>
                </a:moveTo>
                <a:lnTo>
                  <a:pt x="6929258" y="0"/>
                </a:lnTo>
                <a:lnTo>
                  <a:pt x="6929258" y="7679141"/>
                </a:lnTo>
                <a:lnTo>
                  <a:pt x="0" y="767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r="-74694" b="-59428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6046688" y="1383425"/>
            <a:ext cx="6194624" cy="769836"/>
            <a:chOff x="0" y="0"/>
            <a:chExt cx="8259499" cy="102644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8259499" cy="1026448"/>
              <a:chOff x="0" y="0"/>
              <a:chExt cx="3270171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27017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70171" h="406400">
                    <a:moveTo>
                      <a:pt x="3066971" y="0"/>
                    </a:moveTo>
                    <a:cubicBezTo>
                      <a:pt x="3179195" y="0"/>
                      <a:pt x="3270171" y="90976"/>
                      <a:pt x="3270171" y="203200"/>
                    </a:cubicBezTo>
                    <a:cubicBezTo>
                      <a:pt x="3270171" y="315424"/>
                      <a:pt x="3179195" y="406400"/>
                      <a:pt x="306697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19050"/>
                <a:ext cx="3270171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407862" y="181978"/>
              <a:ext cx="7443775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Concatenação e Exportação final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70097" y="2659519"/>
            <a:ext cx="18147806" cy="4967962"/>
          </a:xfrm>
          <a:custGeom>
            <a:avLst/>
            <a:gdLst/>
            <a:ahLst/>
            <a:cxnLst/>
            <a:rect l="l" t="t" r="r" b="b"/>
            <a:pathLst>
              <a:path w="18147806" h="4967962">
                <a:moveTo>
                  <a:pt x="0" y="0"/>
                </a:moveTo>
                <a:lnTo>
                  <a:pt x="18147806" y="0"/>
                </a:lnTo>
                <a:lnTo>
                  <a:pt x="18147806" y="4967962"/>
                </a:lnTo>
                <a:lnTo>
                  <a:pt x="0" y="4967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472227" y="6081862"/>
            <a:ext cx="634531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partir da base de dados tratada, é possível observar lógicas entre colunas e seus valores.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2227" y="3007406"/>
            <a:ext cx="3765744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Análise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078516" y="4911433"/>
            <a:ext cx="5719841" cy="664476"/>
            <a:chOff x="0" y="0"/>
            <a:chExt cx="7626454" cy="885968"/>
          </a:xfrm>
        </p:grpSpPr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7626454" cy="885968"/>
              <a:chOff x="0" y="0"/>
              <a:chExt cx="3498309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49830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498309" h="406400">
                    <a:moveTo>
                      <a:pt x="3295109" y="0"/>
                    </a:moveTo>
                    <a:cubicBezTo>
                      <a:pt x="3407333" y="0"/>
                      <a:pt x="3498309" y="90976"/>
                      <a:pt x="3498309" y="203200"/>
                    </a:cubicBezTo>
                    <a:cubicBezTo>
                      <a:pt x="3498309" y="315424"/>
                      <a:pt x="3407333" y="406400"/>
                      <a:pt x="329510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498309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38831" y="162287"/>
              <a:ext cx="6923553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tempo de música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3108" y="3315192"/>
            <a:ext cx="6879806" cy="664476"/>
            <a:chOff x="0" y="0"/>
            <a:chExt cx="9173074" cy="885968"/>
          </a:xfrm>
        </p:grpSpPr>
        <p:grpSp>
          <p:nvGrpSpPr>
            <p:cNvPr id="12" name="Group 12"/>
            <p:cNvGrpSpPr/>
            <p:nvPr/>
          </p:nvGrpSpPr>
          <p:grpSpPr>
            <a:xfrm rot="-10800000">
              <a:off x="0" y="0"/>
              <a:ext cx="9173074" cy="885968"/>
              <a:chOff x="0" y="0"/>
              <a:chExt cx="4207754" cy="406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077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207754" h="406400">
                    <a:moveTo>
                      <a:pt x="4004554" y="0"/>
                    </a:moveTo>
                    <a:cubicBezTo>
                      <a:pt x="4116778" y="0"/>
                      <a:pt x="4207754" y="90976"/>
                      <a:pt x="4207754" y="203200"/>
                    </a:cubicBezTo>
                    <a:cubicBezTo>
                      <a:pt x="4207754" y="315424"/>
                      <a:pt x="4116778" y="406400"/>
                      <a:pt x="40045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207754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94743" y="159774"/>
              <a:ext cx="8568486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popularidade da música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537226" y="1729064"/>
            <a:ext cx="2631569" cy="664476"/>
            <a:chOff x="0" y="0"/>
            <a:chExt cx="3508759" cy="885968"/>
          </a:xfrm>
        </p:grpSpPr>
        <p:grpSp>
          <p:nvGrpSpPr>
            <p:cNvPr id="17" name="Group 17"/>
            <p:cNvGrpSpPr/>
            <p:nvPr/>
          </p:nvGrpSpPr>
          <p:grpSpPr>
            <a:xfrm rot="-10800000">
              <a:off x="0" y="0"/>
              <a:ext cx="3508759" cy="885968"/>
              <a:chOff x="0" y="0"/>
              <a:chExt cx="1609492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60949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9492" h="406400">
                    <a:moveTo>
                      <a:pt x="1406292" y="0"/>
                    </a:moveTo>
                    <a:cubicBezTo>
                      <a:pt x="1518517" y="0"/>
                      <a:pt x="1609492" y="90976"/>
                      <a:pt x="1609492" y="203200"/>
                    </a:cubicBezTo>
                    <a:cubicBezTo>
                      <a:pt x="1609492" y="315424"/>
                      <a:pt x="1518517" y="406400"/>
                      <a:pt x="140629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609492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34503" y="159774"/>
              <a:ext cx="2394682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Liked 1 ou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68213" y="4113607"/>
            <a:ext cx="6769595" cy="664476"/>
            <a:chOff x="0" y="0"/>
            <a:chExt cx="9026127" cy="885968"/>
          </a:xfrm>
        </p:grpSpPr>
        <p:grpSp>
          <p:nvGrpSpPr>
            <p:cNvPr id="22" name="Group 22"/>
            <p:cNvGrpSpPr/>
            <p:nvPr/>
          </p:nvGrpSpPr>
          <p:grpSpPr>
            <a:xfrm rot="-10800000">
              <a:off x="0" y="0"/>
              <a:ext cx="9026127" cy="885968"/>
              <a:chOff x="0" y="0"/>
              <a:chExt cx="4140348" cy="406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14034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140348" h="406400">
                    <a:moveTo>
                      <a:pt x="3937148" y="0"/>
                    </a:moveTo>
                    <a:cubicBezTo>
                      <a:pt x="4049373" y="0"/>
                      <a:pt x="4140348" y="90976"/>
                      <a:pt x="4140348" y="203200"/>
                    </a:cubicBezTo>
                    <a:cubicBezTo>
                      <a:pt x="4140348" y="315424"/>
                      <a:pt x="4049373" y="406400"/>
                      <a:pt x="393714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4140348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76011" y="163787"/>
              <a:ext cx="8284532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popularidade do artista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09769" y="6500423"/>
            <a:ext cx="4886483" cy="664476"/>
            <a:chOff x="0" y="0"/>
            <a:chExt cx="6515311" cy="885968"/>
          </a:xfrm>
        </p:grpSpPr>
        <p:grpSp>
          <p:nvGrpSpPr>
            <p:cNvPr id="27" name="Group 27"/>
            <p:cNvGrpSpPr/>
            <p:nvPr/>
          </p:nvGrpSpPr>
          <p:grpSpPr>
            <a:xfrm rot="-10800000">
              <a:off x="0" y="0"/>
              <a:ext cx="6515311" cy="885968"/>
              <a:chOff x="0" y="0"/>
              <a:chExt cx="2988619" cy="406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98861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988619" h="406400">
                    <a:moveTo>
                      <a:pt x="2785419" y="0"/>
                    </a:moveTo>
                    <a:cubicBezTo>
                      <a:pt x="2897643" y="0"/>
                      <a:pt x="2988619" y="90976"/>
                      <a:pt x="2988619" y="203200"/>
                    </a:cubicBezTo>
                    <a:cubicBezTo>
                      <a:pt x="2988619" y="315424"/>
                      <a:pt x="2897643" y="406400"/>
                      <a:pt x="278541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988619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5400" y="168719"/>
              <a:ext cx="5995928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artistas mais curtidos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330656" y="8091902"/>
            <a:ext cx="5044708" cy="664476"/>
            <a:chOff x="0" y="0"/>
            <a:chExt cx="6726277" cy="885968"/>
          </a:xfrm>
        </p:grpSpPr>
        <p:grpSp>
          <p:nvGrpSpPr>
            <p:cNvPr id="32" name="Group 32"/>
            <p:cNvGrpSpPr/>
            <p:nvPr/>
          </p:nvGrpSpPr>
          <p:grpSpPr>
            <a:xfrm rot="-10800000">
              <a:off x="0" y="0"/>
              <a:ext cx="6726277" cy="885968"/>
              <a:chOff x="0" y="0"/>
              <a:chExt cx="3085391" cy="406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08539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085391" h="406400">
                    <a:moveTo>
                      <a:pt x="2882191" y="0"/>
                    </a:moveTo>
                    <a:cubicBezTo>
                      <a:pt x="2994415" y="0"/>
                      <a:pt x="3085391" y="90976"/>
                      <a:pt x="3085391" y="203200"/>
                    </a:cubicBezTo>
                    <a:cubicBezTo>
                      <a:pt x="3085391" y="315424"/>
                      <a:pt x="2994415" y="406400"/>
                      <a:pt x="288219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3085391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06503" y="162287"/>
              <a:ext cx="6050961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gêneros mais curtidos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41595" y="8899254"/>
            <a:ext cx="5266532" cy="664476"/>
            <a:chOff x="0" y="0"/>
            <a:chExt cx="7022043" cy="885968"/>
          </a:xfrm>
        </p:grpSpPr>
        <p:grpSp>
          <p:nvGrpSpPr>
            <p:cNvPr id="37" name="Group 37"/>
            <p:cNvGrpSpPr/>
            <p:nvPr/>
          </p:nvGrpSpPr>
          <p:grpSpPr>
            <a:xfrm rot="-10800000">
              <a:off x="0" y="0"/>
              <a:ext cx="7022043" cy="885968"/>
              <a:chOff x="0" y="0"/>
              <a:chExt cx="3221061" cy="406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2210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21061" h="406400">
                    <a:moveTo>
                      <a:pt x="3017861" y="0"/>
                    </a:moveTo>
                    <a:cubicBezTo>
                      <a:pt x="3130085" y="0"/>
                      <a:pt x="3221061" y="90976"/>
                      <a:pt x="3221061" y="203200"/>
                    </a:cubicBezTo>
                    <a:cubicBezTo>
                      <a:pt x="3221061" y="315424"/>
                      <a:pt x="3130085" y="406400"/>
                      <a:pt x="301786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3221061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05194" y="167219"/>
              <a:ext cx="6425963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gêneros menos curtidos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929514" y="5709259"/>
            <a:ext cx="6005931" cy="664476"/>
            <a:chOff x="0" y="0"/>
            <a:chExt cx="8007908" cy="885968"/>
          </a:xfrm>
        </p:grpSpPr>
        <p:grpSp>
          <p:nvGrpSpPr>
            <p:cNvPr id="42" name="Group 42"/>
            <p:cNvGrpSpPr/>
            <p:nvPr/>
          </p:nvGrpSpPr>
          <p:grpSpPr>
            <a:xfrm rot="-10800000">
              <a:off x="0" y="0"/>
              <a:ext cx="8007908" cy="885968"/>
              <a:chOff x="0" y="0"/>
              <a:chExt cx="3673284" cy="4064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67328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673284" h="406400">
                    <a:moveTo>
                      <a:pt x="3470084" y="0"/>
                    </a:moveTo>
                    <a:cubicBezTo>
                      <a:pt x="3582308" y="0"/>
                      <a:pt x="3673284" y="90976"/>
                      <a:pt x="3673284" y="203200"/>
                    </a:cubicBezTo>
                    <a:cubicBezTo>
                      <a:pt x="3673284" y="315424"/>
                      <a:pt x="3582308" y="406400"/>
                      <a:pt x="347008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3673284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309697" y="148550"/>
              <a:ext cx="728255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20 músicas mais longas x liked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991776" y="2517365"/>
            <a:ext cx="7722469" cy="664476"/>
            <a:chOff x="0" y="0"/>
            <a:chExt cx="10296626" cy="885968"/>
          </a:xfrm>
        </p:grpSpPr>
        <p:grpSp>
          <p:nvGrpSpPr>
            <p:cNvPr id="47" name="Group 47"/>
            <p:cNvGrpSpPr/>
            <p:nvPr/>
          </p:nvGrpSpPr>
          <p:grpSpPr>
            <a:xfrm rot="-10800000">
              <a:off x="0" y="0"/>
              <a:ext cx="10296626" cy="885968"/>
              <a:chOff x="0" y="0"/>
              <a:chExt cx="4723135" cy="4064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723135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723135" h="406400">
                    <a:moveTo>
                      <a:pt x="4519935" y="0"/>
                    </a:moveTo>
                    <a:cubicBezTo>
                      <a:pt x="4632159" y="0"/>
                      <a:pt x="4723135" y="90976"/>
                      <a:pt x="4723135" y="203200"/>
                    </a:cubicBezTo>
                    <a:cubicBezTo>
                      <a:pt x="4723135" y="315424"/>
                      <a:pt x="4632159" y="406400"/>
                      <a:pt x="45199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4723135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309697" y="162287"/>
              <a:ext cx="969842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Qt de Gênero por música curtida e não curtida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8887075" y="602812"/>
            <a:ext cx="7931872" cy="9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4"/>
              </a:lnSpc>
              <a:spcBef>
                <a:spcPct val="0"/>
              </a:spcBef>
            </a:pPr>
            <a:r>
              <a:rPr lang="en-US" sz="61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Lógicas observadas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72227" y="4152581"/>
            <a:ext cx="3765744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Gráfica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288840" y="7288725"/>
            <a:ext cx="5128342" cy="664476"/>
            <a:chOff x="0" y="0"/>
            <a:chExt cx="6837789" cy="885968"/>
          </a:xfrm>
        </p:grpSpPr>
        <p:grpSp>
          <p:nvGrpSpPr>
            <p:cNvPr id="54" name="Group 54"/>
            <p:cNvGrpSpPr/>
            <p:nvPr/>
          </p:nvGrpSpPr>
          <p:grpSpPr>
            <a:xfrm rot="-10800000">
              <a:off x="0" y="0"/>
              <a:ext cx="6837789" cy="885968"/>
              <a:chOff x="0" y="0"/>
              <a:chExt cx="3136542" cy="4064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31365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36542" h="406400">
                    <a:moveTo>
                      <a:pt x="2933342" y="0"/>
                    </a:moveTo>
                    <a:cubicBezTo>
                      <a:pt x="3045566" y="0"/>
                      <a:pt x="3136542" y="90976"/>
                      <a:pt x="3136542" y="203200"/>
                    </a:cubicBezTo>
                    <a:cubicBezTo>
                      <a:pt x="3136542" y="315424"/>
                      <a:pt x="3045566" y="406400"/>
                      <a:pt x="293334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3136542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268041" y="168719"/>
              <a:ext cx="6292698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artistas menos curtidos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25783" y="205177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317432" y="-7472035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3120044" y="2219379"/>
            <a:ext cx="2631569" cy="664476"/>
            <a:chOff x="0" y="0"/>
            <a:chExt cx="3508759" cy="88596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3508759" cy="885968"/>
              <a:chOff x="0" y="0"/>
              <a:chExt cx="1609492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60949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9492" h="406400">
                    <a:moveTo>
                      <a:pt x="1406292" y="0"/>
                    </a:moveTo>
                    <a:cubicBezTo>
                      <a:pt x="1518517" y="0"/>
                      <a:pt x="1609492" y="90976"/>
                      <a:pt x="1609492" y="203200"/>
                    </a:cubicBezTo>
                    <a:cubicBezTo>
                      <a:pt x="1609492" y="315424"/>
                      <a:pt x="1518517" y="406400"/>
                      <a:pt x="140629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609492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34503" y="159774"/>
              <a:ext cx="2394682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Liked 1 ou 0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74167" y="3191326"/>
            <a:ext cx="7151604" cy="6066974"/>
          </a:xfrm>
          <a:custGeom>
            <a:avLst/>
            <a:gdLst/>
            <a:ahLst/>
            <a:cxnLst/>
            <a:rect l="l" t="t" r="r" b="b"/>
            <a:pathLst>
              <a:path w="7151604" h="6066974">
                <a:moveTo>
                  <a:pt x="0" y="0"/>
                </a:moveTo>
                <a:lnTo>
                  <a:pt x="7151603" y="0"/>
                </a:lnTo>
                <a:lnTo>
                  <a:pt x="7151603" y="6066974"/>
                </a:lnTo>
                <a:lnTo>
                  <a:pt x="0" y="6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95" t="-5391" r="-15551" b="-1293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5237971" y="348599"/>
            <a:ext cx="3765744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Análise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0405" y="258984"/>
            <a:ext cx="3765744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69487" y="2219379"/>
            <a:ext cx="7722469" cy="664476"/>
            <a:chOff x="0" y="0"/>
            <a:chExt cx="10296626" cy="885968"/>
          </a:xfrm>
        </p:grpSpPr>
        <p:grpSp>
          <p:nvGrpSpPr>
            <p:cNvPr id="13" name="Group 13"/>
            <p:cNvGrpSpPr/>
            <p:nvPr/>
          </p:nvGrpSpPr>
          <p:grpSpPr>
            <a:xfrm rot="-10800000">
              <a:off x="0" y="0"/>
              <a:ext cx="10296626" cy="885968"/>
              <a:chOff x="0" y="0"/>
              <a:chExt cx="4723135" cy="406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723135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723135" h="406400">
                    <a:moveTo>
                      <a:pt x="4519935" y="0"/>
                    </a:moveTo>
                    <a:cubicBezTo>
                      <a:pt x="4632159" y="0"/>
                      <a:pt x="4723135" y="90976"/>
                      <a:pt x="4723135" y="203200"/>
                    </a:cubicBezTo>
                    <a:cubicBezTo>
                      <a:pt x="4723135" y="315424"/>
                      <a:pt x="4632159" y="406400"/>
                      <a:pt x="45199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4723135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09697" y="162287"/>
              <a:ext cx="969842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Qt de Gênero por música curtida e não curtida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569487" y="3191326"/>
            <a:ext cx="7689813" cy="6066974"/>
          </a:xfrm>
          <a:custGeom>
            <a:avLst/>
            <a:gdLst/>
            <a:ahLst/>
            <a:cxnLst/>
            <a:rect l="l" t="t" r="r" b="b"/>
            <a:pathLst>
              <a:path w="7689813" h="6066974">
                <a:moveTo>
                  <a:pt x="0" y="0"/>
                </a:moveTo>
                <a:lnTo>
                  <a:pt x="7689813" y="0"/>
                </a:lnTo>
                <a:lnTo>
                  <a:pt x="7689813" y="6066974"/>
                </a:lnTo>
                <a:lnTo>
                  <a:pt x="0" y="6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69" t="-6012" r="-6550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6792" y="-4401837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30299" y="335184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460175" y="1534903"/>
            <a:ext cx="6879806" cy="664476"/>
            <a:chOff x="0" y="0"/>
            <a:chExt cx="9173074" cy="88596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9173074" cy="885968"/>
              <a:chOff x="0" y="0"/>
              <a:chExt cx="4207754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077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207754" h="406400">
                    <a:moveTo>
                      <a:pt x="4004554" y="0"/>
                    </a:moveTo>
                    <a:cubicBezTo>
                      <a:pt x="4116778" y="0"/>
                      <a:pt x="4207754" y="90976"/>
                      <a:pt x="4207754" y="203200"/>
                    </a:cubicBezTo>
                    <a:cubicBezTo>
                      <a:pt x="4207754" y="315424"/>
                      <a:pt x="4116778" y="406400"/>
                      <a:pt x="40045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4207754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94743" y="159774"/>
              <a:ext cx="8568486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popularidade da música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30299" y="1534903"/>
            <a:ext cx="6769595" cy="664476"/>
            <a:chOff x="0" y="0"/>
            <a:chExt cx="9026127" cy="885968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0"/>
              <a:ext cx="9026127" cy="885968"/>
              <a:chOff x="0" y="0"/>
              <a:chExt cx="4140348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14034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140348" h="406400">
                    <a:moveTo>
                      <a:pt x="3937148" y="0"/>
                    </a:moveTo>
                    <a:cubicBezTo>
                      <a:pt x="4049373" y="0"/>
                      <a:pt x="4140348" y="90976"/>
                      <a:pt x="4140348" y="203200"/>
                    </a:cubicBezTo>
                    <a:cubicBezTo>
                      <a:pt x="4140348" y="315424"/>
                      <a:pt x="4049373" y="406400"/>
                      <a:pt x="393714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140348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76011" y="163787"/>
              <a:ext cx="8284532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popularidade do artista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78278" y="2673470"/>
            <a:ext cx="7816425" cy="5862318"/>
          </a:xfrm>
          <a:custGeom>
            <a:avLst/>
            <a:gdLst/>
            <a:ahLst/>
            <a:cxnLst/>
            <a:rect l="l" t="t" r="r" b="b"/>
            <a:pathLst>
              <a:path w="7816425" h="5862318">
                <a:moveTo>
                  <a:pt x="0" y="0"/>
                </a:moveTo>
                <a:lnTo>
                  <a:pt x="7816425" y="0"/>
                </a:lnTo>
                <a:lnTo>
                  <a:pt x="7816425" y="5862319"/>
                </a:lnTo>
                <a:lnTo>
                  <a:pt x="0" y="5862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9693297" y="2673470"/>
            <a:ext cx="7816425" cy="5862318"/>
          </a:xfrm>
          <a:custGeom>
            <a:avLst/>
            <a:gdLst/>
            <a:ahLst/>
            <a:cxnLst/>
            <a:rect l="l" t="t" r="r" b="b"/>
            <a:pathLst>
              <a:path w="7816425" h="5862318">
                <a:moveTo>
                  <a:pt x="0" y="0"/>
                </a:moveTo>
                <a:lnTo>
                  <a:pt x="7816425" y="0"/>
                </a:lnTo>
                <a:lnTo>
                  <a:pt x="7816425" y="5862319"/>
                </a:lnTo>
                <a:lnTo>
                  <a:pt x="0" y="5862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41907" y="1741359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206349" y="-9237707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3"/>
                </a:lnTo>
                <a:lnTo>
                  <a:pt x="0" y="1803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511413" y="1538112"/>
            <a:ext cx="5719841" cy="664476"/>
            <a:chOff x="0" y="0"/>
            <a:chExt cx="7626454" cy="88596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7626454" cy="885968"/>
              <a:chOff x="0" y="0"/>
              <a:chExt cx="3498309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49830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498309" h="406400">
                    <a:moveTo>
                      <a:pt x="3295109" y="0"/>
                    </a:moveTo>
                    <a:cubicBezTo>
                      <a:pt x="3407333" y="0"/>
                      <a:pt x="3498309" y="90976"/>
                      <a:pt x="3498309" y="203200"/>
                    </a:cubicBezTo>
                    <a:cubicBezTo>
                      <a:pt x="3498309" y="315424"/>
                      <a:pt x="3407333" y="406400"/>
                      <a:pt x="329510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498309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38831" y="162287"/>
              <a:ext cx="6923553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Preferência por tempo de música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510603" y="2982904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0430299" y="1028700"/>
            <a:ext cx="6005931" cy="664476"/>
            <a:chOff x="0" y="0"/>
            <a:chExt cx="8007908" cy="885968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0" y="0"/>
              <a:ext cx="8007908" cy="885968"/>
              <a:chOff x="0" y="0"/>
              <a:chExt cx="3673284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67328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673284" h="406400">
                    <a:moveTo>
                      <a:pt x="3470084" y="0"/>
                    </a:moveTo>
                    <a:cubicBezTo>
                      <a:pt x="3582308" y="0"/>
                      <a:pt x="3673284" y="90976"/>
                      <a:pt x="3673284" y="203200"/>
                    </a:cubicBezTo>
                    <a:cubicBezTo>
                      <a:pt x="3673284" y="315424"/>
                      <a:pt x="3582308" y="406400"/>
                      <a:pt x="347008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673284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09697" y="148550"/>
              <a:ext cx="728255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20 músicas mais longas x liked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8723587" y="2078983"/>
            <a:ext cx="9316779" cy="7453423"/>
          </a:xfrm>
          <a:custGeom>
            <a:avLst/>
            <a:gdLst/>
            <a:ahLst/>
            <a:cxnLst/>
            <a:rect l="l" t="t" r="r" b="b"/>
            <a:pathLst>
              <a:path w="9316779" h="7453423">
                <a:moveTo>
                  <a:pt x="0" y="0"/>
                </a:moveTo>
                <a:lnTo>
                  <a:pt x="9316779" y="0"/>
                </a:lnTo>
                <a:lnTo>
                  <a:pt x="9316779" y="7453423"/>
                </a:lnTo>
                <a:lnTo>
                  <a:pt x="0" y="7453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68281" y="3547233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706004" y="-10835599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3"/>
                </a:lnTo>
                <a:lnTo>
                  <a:pt x="0" y="1803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358889" y="3029130"/>
            <a:ext cx="10108092" cy="5054046"/>
          </a:xfrm>
          <a:custGeom>
            <a:avLst/>
            <a:gdLst/>
            <a:ahLst/>
            <a:cxnLst/>
            <a:rect l="l" t="t" r="r" b="b"/>
            <a:pathLst>
              <a:path w="10108092" h="5054046">
                <a:moveTo>
                  <a:pt x="0" y="0"/>
                </a:moveTo>
                <a:lnTo>
                  <a:pt x="10108093" y="0"/>
                </a:lnTo>
                <a:lnTo>
                  <a:pt x="10108093" y="5054046"/>
                </a:lnTo>
                <a:lnTo>
                  <a:pt x="0" y="5054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2993880" y="1878388"/>
            <a:ext cx="4838112" cy="664476"/>
            <a:chOff x="0" y="0"/>
            <a:chExt cx="6450816" cy="885968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0" y="0"/>
              <a:ext cx="6450816" cy="885968"/>
              <a:chOff x="0" y="0"/>
              <a:chExt cx="2959035" cy="406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59035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959035" h="406400">
                    <a:moveTo>
                      <a:pt x="2755835" y="0"/>
                    </a:moveTo>
                    <a:cubicBezTo>
                      <a:pt x="2868059" y="0"/>
                      <a:pt x="2959035" y="90976"/>
                      <a:pt x="2959035" y="203200"/>
                    </a:cubicBezTo>
                    <a:cubicBezTo>
                      <a:pt x="2959035" y="315424"/>
                      <a:pt x="2868059" y="406400"/>
                      <a:pt x="27558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959035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2872" y="168719"/>
              <a:ext cx="593657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artistas mais curtidos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15457" y="1878388"/>
            <a:ext cx="5144465" cy="664476"/>
            <a:chOff x="0" y="0"/>
            <a:chExt cx="6859287" cy="885968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0" y="0"/>
              <a:ext cx="6859287" cy="885968"/>
              <a:chOff x="0" y="0"/>
              <a:chExt cx="3146404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14640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46403" h="406400">
                    <a:moveTo>
                      <a:pt x="2943203" y="0"/>
                    </a:moveTo>
                    <a:cubicBezTo>
                      <a:pt x="3055428" y="0"/>
                      <a:pt x="3146403" y="90976"/>
                      <a:pt x="3146403" y="203200"/>
                    </a:cubicBezTo>
                    <a:cubicBezTo>
                      <a:pt x="3146403" y="315424"/>
                      <a:pt x="3055428" y="406400"/>
                      <a:pt x="294320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146404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68884" y="168719"/>
              <a:ext cx="6312483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artistas menos curtidos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18326" y="3029130"/>
            <a:ext cx="6738728" cy="5054046"/>
          </a:xfrm>
          <a:custGeom>
            <a:avLst/>
            <a:gdLst/>
            <a:ahLst/>
            <a:cxnLst/>
            <a:rect l="l" t="t" r="r" b="b"/>
            <a:pathLst>
              <a:path w="6738728" h="5054046">
                <a:moveTo>
                  <a:pt x="0" y="0"/>
                </a:moveTo>
                <a:lnTo>
                  <a:pt x="6738728" y="0"/>
                </a:lnTo>
                <a:lnTo>
                  <a:pt x="6738728" y="5054046"/>
                </a:lnTo>
                <a:lnTo>
                  <a:pt x="0" y="5054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02986" y="-1144815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46423" y="-9015022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2227304" y="1869233"/>
            <a:ext cx="5273456" cy="664476"/>
            <a:chOff x="0" y="0"/>
            <a:chExt cx="7031275" cy="885968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7031275" cy="885968"/>
              <a:chOff x="0" y="0"/>
              <a:chExt cx="3225296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22529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25296" h="406400">
                    <a:moveTo>
                      <a:pt x="3022096" y="0"/>
                    </a:moveTo>
                    <a:cubicBezTo>
                      <a:pt x="3134320" y="0"/>
                      <a:pt x="3225296" y="90976"/>
                      <a:pt x="3225296" y="203200"/>
                    </a:cubicBezTo>
                    <a:cubicBezTo>
                      <a:pt x="3225296" y="315424"/>
                      <a:pt x="3134320" y="406400"/>
                      <a:pt x="302209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225296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75626" y="168719"/>
              <a:ext cx="6470760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gêneros mais curtidos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3106192"/>
            <a:ext cx="7670665" cy="5148353"/>
          </a:xfrm>
          <a:custGeom>
            <a:avLst/>
            <a:gdLst/>
            <a:ahLst/>
            <a:cxnLst/>
            <a:rect l="l" t="t" r="r" b="b"/>
            <a:pathLst>
              <a:path w="7670665" h="5148353">
                <a:moveTo>
                  <a:pt x="0" y="0"/>
                </a:moveTo>
                <a:lnTo>
                  <a:pt x="7670665" y="0"/>
                </a:lnTo>
                <a:lnTo>
                  <a:pt x="7670665" y="5148353"/>
                </a:lnTo>
                <a:lnTo>
                  <a:pt x="0" y="514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3" t="-6263" b="-9708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1005833" y="1869233"/>
            <a:ext cx="5273456" cy="664476"/>
            <a:chOff x="0" y="0"/>
            <a:chExt cx="7031275" cy="885968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0" y="0"/>
              <a:ext cx="7031275" cy="885968"/>
              <a:chOff x="0" y="0"/>
              <a:chExt cx="3225296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22529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25296" h="406400">
                    <a:moveTo>
                      <a:pt x="3022096" y="0"/>
                    </a:moveTo>
                    <a:cubicBezTo>
                      <a:pt x="3134320" y="0"/>
                      <a:pt x="3225296" y="90976"/>
                      <a:pt x="3225296" y="203200"/>
                    </a:cubicBezTo>
                    <a:cubicBezTo>
                      <a:pt x="3225296" y="315424"/>
                      <a:pt x="3134320" y="406400"/>
                      <a:pt x="302209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225296" cy="444500"/>
              </a:xfrm>
              <a:prstGeom prst="rect">
                <a:avLst/>
              </a:prstGeom>
            </p:spPr>
            <p:txBody>
              <a:bodyPr lIns="27353" tIns="27353" rIns="27353" bIns="27353" rtlCol="0" anchor="ctr"/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75626" y="168719"/>
              <a:ext cx="6470760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Top 10 gêneros menos curtidos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9662114" y="3106192"/>
            <a:ext cx="7960894" cy="5148353"/>
          </a:xfrm>
          <a:custGeom>
            <a:avLst/>
            <a:gdLst/>
            <a:ahLst/>
            <a:cxnLst/>
            <a:rect l="l" t="t" r="r" b="b"/>
            <a:pathLst>
              <a:path w="7960894" h="5148353">
                <a:moveTo>
                  <a:pt x="0" y="0"/>
                </a:moveTo>
                <a:lnTo>
                  <a:pt x="7960894" y="0"/>
                </a:lnTo>
                <a:lnTo>
                  <a:pt x="7960894" y="5148353"/>
                </a:lnTo>
                <a:lnTo>
                  <a:pt x="0" y="5148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576" b="-9395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726" y="-65560"/>
            <a:ext cx="9549881" cy="10416076"/>
          </a:xfrm>
          <a:custGeom>
            <a:avLst/>
            <a:gdLst/>
            <a:ahLst/>
            <a:cxnLst/>
            <a:rect l="l" t="t" r="r" b="b"/>
            <a:pathLst>
              <a:path w="9549881" h="10416076">
                <a:moveTo>
                  <a:pt x="0" y="0"/>
                </a:moveTo>
                <a:lnTo>
                  <a:pt x="9549880" y="0"/>
                </a:lnTo>
                <a:lnTo>
                  <a:pt x="9549880" y="10416075"/>
                </a:lnTo>
                <a:lnTo>
                  <a:pt x="0" y="10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86674" t="-18607" b="-544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371645" y="2728118"/>
            <a:ext cx="6929257" cy="7679141"/>
          </a:xfrm>
          <a:custGeom>
            <a:avLst/>
            <a:gdLst/>
            <a:ahLst/>
            <a:cxnLst/>
            <a:rect l="l" t="t" r="r" b="b"/>
            <a:pathLst>
              <a:path w="6929257" h="7679141">
                <a:moveTo>
                  <a:pt x="0" y="0"/>
                </a:moveTo>
                <a:lnTo>
                  <a:pt x="6929258" y="0"/>
                </a:lnTo>
                <a:lnTo>
                  <a:pt x="6929258" y="7679141"/>
                </a:lnTo>
                <a:lnTo>
                  <a:pt x="0" y="767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r="-74694" b="-594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100381" y="2076408"/>
            <a:ext cx="4559272" cy="249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</a:t>
            </a:r>
          </a:p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 u="none" strike="noStrik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0381" y="5142492"/>
            <a:ext cx="1514869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</a:t>
            </a:r>
            <a:endParaRPr lang="en-US" sz="2563" b="1" spc="76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00381" y="5794110"/>
            <a:ext cx="6191919" cy="21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Seu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principal é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dados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já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tratados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instanciação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treinamento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o teste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então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escolha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partir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três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testes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89584" y="971550"/>
            <a:ext cx="2726854" cy="9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4"/>
              </a:lnSpc>
              <a:spcBef>
                <a:spcPct val="0"/>
              </a:spcBef>
            </a:pPr>
            <a:r>
              <a:rPr lang="en-US" sz="613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Etapas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24698" y="2276249"/>
            <a:ext cx="2813300" cy="769836"/>
            <a:chOff x="0" y="0"/>
            <a:chExt cx="3751067" cy="1026448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0" y="0"/>
              <a:ext cx="3751067" cy="1026448"/>
              <a:chOff x="0" y="0"/>
              <a:chExt cx="1485154" cy="406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851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85154" h="406400">
                    <a:moveTo>
                      <a:pt x="1281954" y="0"/>
                    </a:moveTo>
                    <a:cubicBezTo>
                      <a:pt x="1394179" y="0"/>
                      <a:pt x="1485154" y="90976"/>
                      <a:pt x="1485154" y="203200"/>
                    </a:cubicBezTo>
                    <a:cubicBezTo>
                      <a:pt x="1485154" y="315424"/>
                      <a:pt x="1394179" y="406400"/>
                      <a:pt x="12819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14851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71414" y="186155"/>
              <a:ext cx="256005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Bibliotecas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53670" y="3360410"/>
            <a:ext cx="3598681" cy="769836"/>
            <a:chOff x="0" y="0"/>
            <a:chExt cx="4798241" cy="1026448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0"/>
              <a:ext cx="4798241" cy="1026448"/>
              <a:chOff x="0" y="0"/>
              <a:chExt cx="1899760" cy="406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9976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899760" h="406400">
                    <a:moveTo>
                      <a:pt x="1696560" y="0"/>
                    </a:moveTo>
                    <a:cubicBezTo>
                      <a:pt x="1808785" y="0"/>
                      <a:pt x="1899760" y="90976"/>
                      <a:pt x="1899760" y="203200"/>
                    </a:cubicBezTo>
                    <a:cubicBezTo>
                      <a:pt x="1899760" y="315424"/>
                      <a:pt x="1808785" y="406400"/>
                      <a:pt x="169656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89976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9748" y="181978"/>
              <a:ext cx="373874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Leitura de dados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84967" y="4448856"/>
            <a:ext cx="6092763" cy="769836"/>
            <a:chOff x="0" y="0"/>
            <a:chExt cx="8123684" cy="1026448"/>
          </a:xfrm>
        </p:grpSpPr>
        <p:grpSp>
          <p:nvGrpSpPr>
            <p:cNvPr id="19" name="Group 19"/>
            <p:cNvGrpSpPr/>
            <p:nvPr/>
          </p:nvGrpSpPr>
          <p:grpSpPr>
            <a:xfrm rot="-10800000">
              <a:off x="0" y="0"/>
              <a:ext cx="8123684" cy="1026448"/>
              <a:chOff x="0" y="0"/>
              <a:chExt cx="3216398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21639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216398" h="406400">
                    <a:moveTo>
                      <a:pt x="3013198" y="0"/>
                    </a:moveTo>
                    <a:cubicBezTo>
                      <a:pt x="3125422" y="0"/>
                      <a:pt x="3216398" y="90976"/>
                      <a:pt x="3216398" y="203200"/>
                    </a:cubicBezTo>
                    <a:cubicBezTo>
                      <a:pt x="3216398" y="315424"/>
                      <a:pt x="3125422" y="406400"/>
                      <a:pt x="301319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19050"/>
                <a:ext cx="3216398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250480" y="181978"/>
              <a:ext cx="7637620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Separação entre preditores e alvo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90443" y="5533017"/>
            <a:ext cx="7525135" cy="769836"/>
            <a:chOff x="0" y="0"/>
            <a:chExt cx="10033514" cy="1026448"/>
          </a:xfrm>
        </p:grpSpPr>
        <p:grpSp>
          <p:nvGrpSpPr>
            <p:cNvPr id="24" name="Group 24"/>
            <p:cNvGrpSpPr/>
            <p:nvPr/>
          </p:nvGrpSpPr>
          <p:grpSpPr>
            <a:xfrm rot="-10800000">
              <a:off x="0" y="0"/>
              <a:ext cx="10033514" cy="1026448"/>
              <a:chOff x="0" y="0"/>
              <a:chExt cx="3972554" cy="406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9725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972554" h="406400">
                    <a:moveTo>
                      <a:pt x="3769354" y="0"/>
                    </a:moveTo>
                    <a:cubicBezTo>
                      <a:pt x="3881579" y="0"/>
                      <a:pt x="3972554" y="90976"/>
                      <a:pt x="3972554" y="203200"/>
                    </a:cubicBezTo>
                    <a:cubicBezTo>
                      <a:pt x="3972554" y="315424"/>
                      <a:pt x="3881579" y="406400"/>
                      <a:pt x="37693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39725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7236" y="181978"/>
              <a:ext cx="9376340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Criação das variáveis treinamento e teste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439058" y="6617178"/>
            <a:ext cx="2827905" cy="769836"/>
            <a:chOff x="0" y="0"/>
            <a:chExt cx="3770540" cy="1026448"/>
          </a:xfrm>
        </p:grpSpPr>
        <p:grpSp>
          <p:nvGrpSpPr>
            <p:cNvPr id="29" name="Group 29"/>
            <p:cNvGrpSpPr/>
            <p:nvPr/>
          </p:nvGrpSpPr>
          <p:grpSpPr>
            <a:xfrm rot="-10800000">
              <a:off x="0" y="0"/>
              <a:ext cx="3770540" cy="1026448"/>
              <a:chOff x="0" y="0"/>
              <a:chExt cx="1492864" cy="406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49286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92864" h="406400">
                    <a:moveTo>
                      <a:pt x="1289664" y="0"/>
                    </a:moveTo>
                    <a:cubicBezTo>
                      <a:pt x="1401889" y="0"/>
                      <a:pt x="1492864" y="90976"/>
                      <a:pt x="1492864" y="203200"/>
                    </a:cubicBezTo>
                    <a:cubicBezTo>
                      <a:pt x="1492864" y="315424"/>
                      <a:pt x="1401889" y="406400"/>
                      <a:pt x="128966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149286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15826" y="190500"/>
              <a:ext cx="3186178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Instanciação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41355" y="8785500"/>
            <a:ext cx="1579986" cy="769836"/>
            <a:chOff x="0" y="0"/>
            <a:chExt cx="2106648" cy="1026448"/>
          </a:xfrm>
        </p:grpSpPr>
        <p:grpSp>
          <p:nvGrpSpPr>
            <p:cNvPr id="34" name="Group 34"/>
            <p:cNvGrpSpPr/>
            <p:nvPr/>
          </p:nvGrpSpPr>
          <p:grpSpPr>
            <a:xfrm rot="-10800000">
              <a:off x="0" y="0"/>
              <a:ext cx="2106648" cy="1026448"/>
              <a:chOff x="0" y="0"/>
              <a:chExt cx="834082" cy="406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3408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34082" h="406400">
                    <a:moveTo>
                      <a:pt x="630882" y="0"/>
                    </a:moveTo>
                    <a:cubicBezTo>
                      <a:pt x="743106" y="0"/>
                      <a:pt x="834082" y="90976"/>
                      <a:pt x="834082" y="203200"/>
                    </a:cubicBezTo>
                    <a:cubicBezTo>
                      <a:pt x="834082" y="315424"/>
                      <a:pt x="743106" y="406400"/>
                      <a:pt x="63088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834082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61148" y="181978"/>
              <a:ext cx="1601031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Teste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58351" y="7701339"/>
            <a:ext cx="2758086" cy="769836"/>
            <a:chOff x="0" y="0"/>
            <a:chExt cx="3677448" cy="1026448"/>
          </a:xfrm>
        </p:grpSpPr>
        <p:grpSp>
          <p:nvGrpSpPr>
            <p:cNvPr id="39" name="Group 39"/>
            <p:cNvGrpSpPr/>
            <p:nvPr/>
          </p:nvGrpSpPr>
          <p:grpSpPr>
            <a:xfrm rot="-10800000">
              <a:off x="0" y="0"/>
              <a:ext cx="3677448" cy="1026448"/>
              <a:chOff x="0" y="0"/>
              <a:chExt cx="1456007" cy="406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456007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56007" h="406400">
                    <a:moveTo>
                      <a:pt x="1252807" y="0"/>
                    </a:moveTo>
                    <a:cubicBezTo>
                      <a:pt x="1365031" y="0"/>
                      <a:pt x="1456007" y="90976"/>
                      <a:pt x="1456007" y="203200"/>
                    </a:cubicBezTo>
                    <a:cubicBezTo>
                      <a:pt x="1456007" y="315424"/>
                      <a:pt x="1365031" y="406400"/>
                      <a:pt x="125280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1456007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70984" y="181978"/>
              <a:ext cx="3206691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Treinamento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958001" y="475015"/>
            <a:ext cx="774669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spc="72">
                <a:solidFill>
                  <a:srgbClr val="16775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Cada etapa foi feita com algoritmos diferentes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2035" y="4337094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7955003" y="-10221377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5" y="0"/>
                </a:lnTo>
                <a:lnTo>
                  <a:pt x="17827205" y="18030044"/>
                </a:lnTo>
                <a:lnTo>
                  <a:pt x="0" y="1803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887530" y="9258986"/>
            <a:ext cx="12512940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partir da análise acima, o algoritmo escolhido foi: </a:t>
            </a:r>
            <a:r>
              <a:rPr lang="en-US" sz="2699" b="1">
                <a:solidFill>
                  <a:srgbClr val="167753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Regressão Logística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0629" y="542692"/>
            <a:ext cx="11126743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Escolha do Algoritmo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3634" y="190500"/>
            <a:ext cx="20975268" cy="10515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28546" y="-981607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6" y="0"/>
                </a:lnTo>
                <a:lnTo>
                  <a:pt x="17827206" y="18030043"/>
                </a:lnTo>
                <a:lnTo>
                  <a:pt x="0" y="18030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705435" y="-3075826"/>
            <a:ext cx="9165131" cy="9269411"/>
          </a:xfrm>
          <a:custGeom>
            <a:avLst/>
            <a:gdLst/>
            <a:ahLst/>
            <a:cxnLst/>
            <a:rect l="l" t="t" r="r" b="b"/>
            <a:pathLst>
              <a:path w="9165131" h="9269411">
                <a:moveTo>
                  <a:pt x="0" y="0"/>
                </a:moveTo>
                <a:lnTo>
                  <a:pt x="9165130" y="0"/>
                </a:lnTo>
                <a:lnTo>
                  <a:pt x="9165130" y="9269411"/>
                </a:lnTo>
                <a:lnTo>
                  <a:pt x="0" y="92694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728477" y="6193585"/>
            <a:ext cx="6333825" cy="2469390"/>
          </a:xfrm>
          <a:custGeom>
            <a:avLst/>
            <a:gdLst/>
            <a:ahLst/>
            <a:cxnLst/>
            <a:rect l="l" t="t" r="r" b="b"/>
            <a:pathLst>
              <a:path w="6333825" h="2469390">
                <a:moveTo>
                  <a:pt x="0" y="0"/>
                </a:moveTo>
                <a:lnTo>
                  <a:pt x="6333825" y="0"/>
                </a:lnTo>
                <a:lnTo>
                  <a:pt x="6333825" y="2469390"/>
                </a:lnTo>
                <a:lnTo>
                  <a:pt x="0" y="2469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9924189" y="4543484"/>
            <a:ext cx="6969145" cy="4893230"/>
          </a:xfrm>
          <a:custGeom>
            <a:avLst/>
            <a:gdLst/>
            <a:ahLst/>
            <a:cxnLst/>
            <a:rect l="l" t="t" r="r" b="b"/>
            <a:pathLst>
              <a:path w="6969145" h="4893230">
                <a:moveTo>
                  <a:pt x="0" y="0"/>
                </a:moveTo>
                <a:lnTo>
                  <a:pt x="6969145" y="0"/>
                </a:lnTo>
                <a:lnTo>
                  <a:pt x="6969145" y="4893230"/>
                </a:lnTo>
                <a:lnTo>
                  <a:pt x="0" y="4893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9924189" y="3375084"/>
            <a:ext cx="96824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spc="6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[[20</a:t>
            </a:r>
            <a:r>
              <a:rPr lang="en-US" sz="2000" u="none" strike="noStrike" spc="6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0]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 spc="6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[ 1 8]]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3994" y="3540550"/>
            <a:ext cx="4140228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  <a:spcBef>
                <a:spcPct val="0"/>
              </a:spcBef>
            </a:pPr>
            <a:r>
              <a:rPr lang="en-US" sz="2199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Precisão</a:t>
            </a:r>
            <a:r>
              <a:rPr lang="en-US" sz="2199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: 0.9655172413793104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95829" y="748282"/>
            <a:ext cx="5696341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Resultados</a:t>
            </a:r>
            <a:endParaRPr lang="en-US" sz="7961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56236" y="2725815"/>
            <a:ext cx="4686085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Precisão</a:t>
            </a: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(Accuracy Score)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4189" y="2725815"/>
            <a:ext cx="6780449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Matriz</a:t>
            </a: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de Confusão (Confusion Matrix)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477" y="4894832"/>
            <a:ext cx="4741602" cy="90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Relatório</a:t>
            </a: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de </a:t>
            </a: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Classificação</a:t>
            </a:r>
            <a:endParaRPr lang="en-US" sz="2563" b="1" spc="76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l">
              <a:lnSpc>
                <a:spcPts val="3588"/>
              </a:lnSpc>
            </a:pP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(Classification Report)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45561" y="-6773158"/>
            <a:ext cx="12105021" cy="12242752"/>
          </a:xfrm>
          <a:custGeom>
            <a:avLst/>
            <a:gdLst/>
            <a:ahLst/>
            <a:cxnLst/>
            <a:rect l="l" t="t" r="r" b="b"/>
            <a:pathLst>
              <a:path w="12105021" h="12242752">
                <a:moveTo>
                  <a:pt x="0" y="0"/>
                </a:moveTo>
                <a:lnTo>
                  <a:pt x="12105021" y="0"/>
                </a:lnTo>
                <a:lnTo>
                  <a:pt x="12105021" y="12242752"/>
                </a:lnTo>
                <a:lnTo>
                  <a:pt x="0" y="12242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614589" y="2605062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5" y="0"/>
                </a:lnTo>
                <a:lnTo>
                  <a:pt x="17827205" y="18030043"/>
                </a:lnTo>
                <a:lnTo>
                  <a:pt x="0" y="18030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5300283" y="3897286"/>
            <a:ext cx="7687434" cy="5765575"/>
          </a:xfrm>
          <a:custGeom>
            <a:avLst/>
            <a:gdLst/>
            <a:ahLst/>
            <a:cxnLst/>
            <a:rect l="l" t="t" r="r" b="b"/>
            <a:pathLst>
              <a:path w="7687434" h="5765575">
                <a:moveTo>
                  <a:pt x="0" y="0"/>
                </a:moveTo>
                <a:lnTo>
                  <a:pt x="7687434" y="0"/>
                </a:lnTo>
                <a:lnTo>
                  <a:pt x="7687434" y="5765576"/>
                </a:lnTo>
                <a:lnTo>
                  <a:pt x="0" y="5765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692588" y="2481237"/>
            <a:ext cx="14902824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curva ROC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mostra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capacidade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distinguir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entre as classes,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variando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ponto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corte (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limiar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) que decide se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previsão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é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positiva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negativa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 Assim,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ela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ajuda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avaliar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níveis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sensibilidade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taxa de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falsos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positivos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facilitando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escolha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limiar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mais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adequado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seu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9749" y="666750"/>
            <a:ext cx="5628502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553"/>
              </a:lnSpc>
              <a:spcBef>
                <a:spcPct val="0"/>
              </a:spcBef>
            </a:pPr>
            <a:r>
              <a:rPr lang="en-US" sz="7961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Curva ROC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4105" y="2011359"/>
            <a:ext cx="6019789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8"/>
              </a:lnSpc>
            </a:pP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Receiver Operating Characteristic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726" y="-65560"/>
            <a:ext cx="9549881" cy="10416076"/>
          </a:xfrm>
          <a:custGeom>
            <a:avLst/>
            <a:gdLst/>
            <a:ahLst/>
            <a:cxnLst/>
            <a:rect l="l" t="t" r="r" b="b"/>
            <a:pathLst>
              <a:path w="9549881" h="10416076">
                <a:moveTo>
                  <a:pt x="0" y="0"/>
                </a:moveTo>
                <a:lnTo>
                  <a:pt x="9549880" y="0"/>
                </a:lnTo>
                <a:lnTo>
                  <a:pt x="9549880" y="10416075"/>
                </a:lnTo>
                <a:lnTo>
                  <a:pt x="0" y="1041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-86674" t="-18607" b="-5449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371645" y="2728118"/>
            <a:ext cx="6929257" cy="7679141"/>
          </a:xfrm>
          <a:custGeom>
            <a:avLst/>
            <a:gdLst/>
            <a:ahLst/>
            <a:cxnLst/>
            <a:rect l="l" t="t" r="r" b="b"/>
            <a:pathLst>
              <a:path w="6929257" h="7679141">
                <a:moveTo>
                  <a:pt x="0" y="0"/>
                </a:moveTo>
                <a:lnTo>
                  <a:pt x="6929258" y="0"/>
                </a:lnTo>
                <a:lnTo>
                  <a:pt x="6929258" y="7679141"/>
                </a:lnTo>
                <a:lnTo>
                  <a:pt x="0" y="767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r="-74694" b="-594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052756" y="2812205"/>
            <a:ext cx="3769202" cy="128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3"/>
              </a:lnSpc>
              <a:spcBef>
                <a:spcPct val="0"/>
              </a:spcBef>
            </a:pPr>
            <a:r>
              <a:rPr lang="en-US" sz="796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endParaRPr lang="en-US" sz="796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00381" y="5007176"/>
            <a:ext cx="6401529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Após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escolha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treinamento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teste do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ML,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nós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criamos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será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usado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previsões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Nele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colocaremos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tratamento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da nova base de dados, 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verificação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das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colunas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para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então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ocorrer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previsões</a:t>
            </a: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89424" y="2197529"/>
            <a:ext cx="2726854" cy="98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4"/>
              </a:lnSpc>
              <a:spcBef>
                <a:spcPct val="0"/>
              </a:spcBef>
            </a:pPr>
            <a:r>
              <a:rPr lang="en-US" sz="6136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Etapas</a:t>
            </a:r>
            <a:endParaRPr lang="en-US" sz="6136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902977" y="3383042"/>
            <a:ext cx="2813300" cy="769836"/>
            <a:chOff x="0" y="0"/>
            <a:chExt cx="3751067" cy="1026448"/>
          </a:xfrm>
        </p:grpSpPr>
        <p:grpSp>
          <p:nvGrpSpPr>
            <p:cNvPr id="8" name="Group 8"/>
            <p:cNvGrpSpPr/>
            <p:nvPr/>
          </p:nvGrpSpPr>
          <p:grpSpPr>
            <a:xfrm rot="-10800000">
              <a:off x="0" y="0"/>
              <a:ext cx="3751067" cy="1026448"/>
              <a:chOff x="0" y="0"/>
              <a:chExt cx="1485154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8515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85154" h="406400">
                    <a:moveTo>
                      <a:pt x="1281954" y="0"/>
                    </a:moveTo>
                    <a:cubicBezTo>
                      <a:pt x="1394179" y="0"/>
                      <a:pt x="1485154" y="90976"/>
                      <a:pt x="1485154" y="203200"/>
                    </a:cubicBezTo>
                    <a:cubicBezTo>
                      <a:pt x="1485154" y="315424"/>
                      <a:pt x="1394179" y="406400"/>
                      <a:pt x="128195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48515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71414" y="186155"/>
              <a:ext cx="2560054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 dirty="0" err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Bibliotecas</a:t>
              </a:r>
              <a:endParaRPr lang="en-US" sz="256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69153" y="4352903"/>
            <a:ext cx="4480949" cy="769836"/>
            <a:chOff x="0" y="0"/>
            <a:chExt cx="5974598" cy="1026448"/>
          </a:xfrm>
        </p:grpSpPr>
        <p:grpSp>
          <p:nvGrpSpPr>
            <p:cNvPr id="13" name="Group 13"/>
            <p:cNvGrpSpPr/>
            <p:nvPr/>
          </p:nvGrpSpPr>
          <p:grpSpPr>
            <a:xfrm rot="-10800000">
              <a:off x="0" y="0"/>
              <a:ext cx="5974598" cy="1026448"/>
              <a:chOff x="0" y="0"/>
              <a:chExt cx="2365514" cy="406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36551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365514" h="406400">
                    <a:moveTo>
                      <a:pt x="2162314" y="0"/>
                    </a:moveTo>
                    <a:cubicBezTo>
                      <a:pt x="2274538" y="0"/>
                      <a:pt x="2365514" y="90976"/>
                      <a:pt x="2365514" y="203200"/>
                    </a:cubicBezTo>
                    <a:cubicBezTo>
                      <a:pt x="2365514" y="315424"/>
                      <a:pt x="2274538" y="406400"/>
                      <a:pt x="216231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365514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1987" y="181978"/>
              <a:ext cx="5299983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Leitura das dataframes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077502" y="6292625"/>
            <a:ext cx="4464252" cy="769836"/>
            <a:chOff x="0" y="0"/>
            <a:chExt cx="5952335" cy="1026448"/>
          </a:xfrm>
        </p:grpSpPr>
        <p:grpSp>
          <p:nvGrpSpPr>
            <p:cNvPr id="18" name="Group 18"/>
            <p:cNvGrpSpPr/>
            <p:nvPr/>
          </p:nvGrpSpPr>
          <p:grpSpPr>
            <a:xfrm rot="-10800000">
              <a:off x="0" y="0"/>
              <a:ext cx="5952335" cy="1026448"/>
              <a:chOff x="0" y="0"/>
              <a:chExt cx="2356699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35669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356699" h="406400">
                    <a:moveTo>
                      <a:pt x="2153499" y="0"/>
                    </a:moveTo>
                    <a:cubicBezTo>
                      <a:pt x="2265724" y="0"/>
                      <a:pt x="2356699" y="90976"/>
                      <a:pt x="2356699" y="203200"/>
                    </a:cubicBezTo>
                    <a:cubicBezTo>
                      <a:pt x="2356699" y="315424"/>
                      <a:pt x="2265724" y="406400"/>
                      <a:pt x="215349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356699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83530" y="181978"/>
              <a:ext cx="5596190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Verificação de colunas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44651" y="5322764"/>
            <a:ext cx="5929953" cy="769836"/>
            <a:chOff x="0" y="0"/>
            <a:chExt cx="7906604" cy="1026448"/>
          </a:xfrm>
        </p:grpSpPr>
        <p:grpSp>
          <p:nvGrpSpPr>
            <p:cNvPr id="23" name="Group 23"/>
            <p:cNvGrpSpPr/>
            <p:nvPr/>
          </p:nvGrpSpPr>
          <p:grpSpPr>
            <a:xfrm rot="-10800000">
              <a:off x="0" y="0"/>
              <a:ext cx="7906604" cy="1026448"/>
              <a:chOff x="0" y="0"/>
              <a:chExt cx="3130450" cy="406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13045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30450" h="406400">
                    <a:moveTo>
                      <a:pt x="2927250" y="0"/>
                    </a:moveTo>
                    <a:cubicBezTo>
                      <a:pt x="3039474" y="0"/>
                      <a:pt x="3130450" y="90976"/>
                      <a:pt x="3130450" y="203200"/>
                    </a:cubicBezTo>
                    <a:cubicBezTo>
                      <a:pt x="3130450" y="315424"/>
                      <a:pt x="3039474" y="406400"/>
                      <a:pt x="292725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3130450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218868" y="181978"/>
              <a:ext cx="7448395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Tratamentos da nova dataframe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07655" y="7262486"/>
            <a:ext cx="2203945" cy="769836"/>
            <a:chOff x="0" y="0"/>
            <a:chExt cx="2938594" cy="1026448"/>
          </a:xfrm>
        </p:grpSpPr>
        <p:grpSp>
          <p:nvGrpSpPr>
            <p:cNvPr id="28" name="Group 28"/>
            <p:cNvGrpSpPr/>
            <p:nvPr/>
          </p:nvGrpSpPr>
          <p:grpSpPr>
            <a:xfrm rot="-10800000">
              <a:off x="0" y="0"/>
              <a:ext cx="2938594" cy="1026448"/>
              <a:chOff x="0" y="0"/>
              <a:chExt cx="1163473" cy="406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634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163473" h="406400">
                    <a:moveTo>
                      <a:pt x="960273" y="0"/>
                    </a:moveTo>
                    <a:cubicBezTo>
                      <a:pt x="1072497" y="0"/>
                      <a:pt x="1163473" y="90976"/>
                      <a:pt x="1163473" y="203200"/>
                    </a:cubicBezTo>
                    <a:cubicBezTo>
                      <a:pt x="1163473" y="315424"/>
                      <a:pt x="1072497" y="406400"/>
                      <a:pt x="9602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B1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1163473" cy="425450"/>
              </a:xfrm>
              <a:prstGeom prst="rect">
                <a:avLst/>
              </a:prstGeom>
            </p:spPr>
            <p:txBody>
              <a:bodyPr lIns="31690" tIns="31690" rIns="31690" bIns="31690" rtlCol="0" anchor="ctr"/>
              <a:lstStyle/>
              <a:p>
                <a:pPr marL="0" lvl="0" indent="0" algn="ctr">
                  <a:lnSpc>
                    <a:spcPts val="1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46141" y="190500"/>
              <a:ext cx="2483168" cy="586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8"/>
                </a:lnSpc>
              </a:pPr>
              <a:r>
                <a:rPr lang="en-US" sz="2563" b="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Previsão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100381" y="4020008"/>
            <a:ext cx="3530354" cy="4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Regressão</a:t>
            </a:r>
            <a:r>
              <a:rPr lang="en-US" sz="2563" b="1" spc="76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563" b="1" spc="76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Logística</a:t>
            </a:r>
            <a:endParaRPr lang="en-US" sz="2563" b="1" spc="76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30051" y="853765"/>
            <a:ext cx="17827206" cy="18030044"/>
          </a:xfrm>
          <a:custGeom>
            <a:avLst/>
            <a:gdLst/>
            <a:ahLst/>
            <a:cxnLst/>
            <a:rect l="l" t="t" r="r" b="b"/>
            <a:pathLst>
              <a:path w="17827206" h="18030044">
                <a:moveTo>
                  <a:pt x="0" y="0"/>
                </a:moveTo>
                <a:lnTo>
                  <a:pt x="17827205" y="0"/>
                </a:lnTo>
                <a:lnTo>
                  <a:pt x="17827205" y="18030043"/>
                </a:lnTo>
                <a:lnTo>
                  <a:pt x="0" y="18030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778073" y="3881984"/>
            <a:ext cx="12731854" cy="514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1"/>
              </a:lnSpc>
              <a:spcBef>
                <a:spcPct val="0"/>
              </a:spcBef>
            </a:pP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desse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rojeto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desenvolver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um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preditivo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determinar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probabilidade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um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usuário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gostar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uma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nova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música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4501"/>
              </a:lnSpc>
              <a:spcBef>
                <a:spcPct val="0"/>
              </a:spcBef>
            </a:pP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utilizada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uma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database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inicial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treinar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testar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4501"/>
              </a:lnSpc>
              <a:spcBef>
                <a:spcPct val="0"/>
              </a:spcBef>
            </a:pP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partir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treinamentos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 testes com 6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Algoritmos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ML,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escolhido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Regressão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Logística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4501"/>
              </a:lnSpc>
              <a:spcBef>
                <a:spcPct val="0"/>
              </a:spcBef>
            </a:pP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isso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criado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modelo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previsão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futuras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u="none" strike="noStrike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músicas</a:t>
            </a:r>
            <a:r>
              <a:rPr lang="en-US" sz="2648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4501"/>
              </a:lnSpc>
              <a:spcBef>
                <a:spcPct val="0"/>
              </a:spcBef>
            </a:pP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foi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alcançado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partir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momento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conseguimos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demosntrar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funcionaria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uma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recomendação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música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aplicativos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48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musicais</a:t>
            </a:r>
            <a:r>
              <a:rPr lang="en-US" sz="2648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648" u="none" strike="noStrike" dirty="0">
              <a:solidFill>
                <a:srgbClr val="FFFFFF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3705435" y="-3075826"/>
            <a:ext cx="9165131" cy="9269411"/>
          </a:xfrm>
          <a:custGeom>
            <a:avLst/>
            <a:gdLst/>
            <a:ahLst/>
            <a:cxnLst/>
            <a:rect l="l" t="t" r="r" b="b"/>
            <a:pathLst>
              <a:path w="9165131" h="9269411">
                <a:moveTo>
                  <a:pt x="0" y="0"/>
                </a:moveTo>
                <a:lnTo>
                  <a:pt x="9165130" y="0"/>
                </a:lnTo>
                <a:lnTo>
                  <a:pt x="9165130" y="9269411"/>
                </a:lnTo>
                <a:lnTo>
                  <a:pt x="0" y="92694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6352779" y="1897578"/>
            <a:ext cx="558244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53"/>
              </a:lnSpc>
              <a:spcBef>
                <a:spcPct val="0"/>
              </a:spcBef>
            </a:pPr>
            <a:r>
              <a:rPr lang="en-US" sz="7961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Conclusão</a:t>
            </a:r>
            <a:endParaRPr lang="en-US" sz="7961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1411" y="280973"/>
            <a:ext cx="17827206" cy="17954654"/>
          </a:xfrm>
          <a:custGeom>
            <a:avLst/>
            <a:gdLst/>
            <a:ahLst/>
            <a:cxnLst/>
            <a:rect l="l" t="t" r="r" b="b"/>
            <a:pathLst>
              <a:path w="17827206" h="17954654">
                <a:moveTo>
                  <a:pt x="0" y="0"/>
                </a:moveTo>
                <a:lnTo>
                  <a:pt x="17827205" y="0"/>
                </a:lnTo>
                <a:lnTo>
                  <a:pt x="17827205" y="17954654"/>
                </a:lnTo>
                <a:lnTo>
                  <a:pt x="0" y="1795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t="-41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3796600" y="-5044338"/>
            <a:ext cx="8616150" cy="8714184"/>
          </a:xfrm>
          <a:custGeom>
            <a:avLst/>
            <a:gdLst/>
            <a:ahLst/>
            <a:cxnLst/>
            <a:rect l="l" t="t" r="r" b="b"/>
            <a:pathLst>
              <a:path w="8616150" h="8714184">
                <a:moveTo>
                  <a:pt x="0" y="0"/>
                </a:moveTo>
                <a:lnTo>
                  <a:pt x="8616150" y="0"/>
                </a:lnTo>
                <a:lnTo>
                  <a:pt x="8616150" y="8714184"/>
                </a:lnTo>
                <a:lnTo>
                  <a:pt x="0" y="8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2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4246291" y="3780397"/>
            <a:ext cx="9795418" cy="257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0"/>
              </a:lnSpc>
            </a:pPr>
            <a:r>
              <a:rPr lang="en-US" sz="15959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Obrigada</a:t>
            </a:r>
            <a:endParaRPr lang="en-US" sz="15959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851</Words>
  <Application>Microsoft Office PowerPoint</Application>
  <PresentationFormat>Custom</PresentationFormat>
  <Paragraphs>125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Poppins Medium</vt:lpstr>
      <vt:lpstr>Raleway</vt:lpstr>
      <vt:lpstr>Poppins Semi-Bold</vt:lpstr>
      <vt:lpstr>Poppins Bold</vt:lpstr>
      <vt:lpstr>Arial</vt:lpstr>
      <vt:lpstr>Calibri</vt:lpstr>
      <vt:lpstr>Poppins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Spotify</dc:title>
  <cp:lastModifiedBy>Lima, Marcela Philippe Meiser</cp:lastModifiedBy>
  <cp:revision>4</cp:revision>
  <dcterms:created xsi:type="dcterms:W3CDTF">2006-08-16T00:00:00Z</dcterms:created>
  <dcterms:modified xsi:type="dcterms:W3CDTF">2025-07-11T19:21:01Z</dcterms:modified>
  <dc:identifier>DAGsHVOBAAE</dc:identifier>
</cp:coreProperties>
</file>